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12192000"/>
  <p:embeddedFontLst>
    <p:embeddedFont>
      <p:font typeface="Oranienbaum"/>
      <p:regular r:id="rId35"/>
    </p:embeddedFont>
    <p:embeddedFont>
      <p:font typeface="Liter"/>
      <p:regular r:id="rId36"/>
    </p:embeddedFont>
    <p:embeddedFont>
      <p:font typeface="Quattrocento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9A17C2-595F-473B-B248-0411605573A8}">
  <a:tblStyle styleId="{EE9A17C2-595F-473B-B248-0411605573A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attrocento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Oranienbaum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QuattrocentoSans-regular.fntdata"/><Relationship Id="rId14" Type="http://schemas.openxmlformats.org/officeDocument/2006/relationships/slide" Target="slides/slide8.xml"/><Relationship Id="rId36" Type="http://schemas.openxmlformats.org/officeDocument/2006/relationships/font" Target="fonts/Liter-regular.fntdata"/><Relationship Id="rId17" Type="http://schemas.openxmlformats.org/officeDocument/2006/relationships/slide" Target="slides/slide11.xml"/><Relationship Id="rId39" Type="http://schemas.openxmlformats.org/officeDocument/2006/relationships/font" Target="fonts/QuattrocentoSans-italic.fntdata"/><Relationship Id="rId16" Type="http://schemas.openxmlformats.org/officeDocument/2006/relationships/slide" Target="slides/slide10.xml"/><Relationship Id="rId38" Type="http://schemas.openxmlformats.org/officeDocument/2006/relationships/font" Target="fonts/QuattrocentoSans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51435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514350" y="3300413"/>
            <a:ext cx="41148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2913460" y="6513910"/>
            <a:ext cx="22290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fa3af6577_4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dfa3af6577_4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dfa3af6577_4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fa3af6577_4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dfa3af6577_4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dfa3af6577_4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fa3af6577_4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dfa3af6577_4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dfa3af6577_4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fa3af6577_4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dfa3af6577_4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dfa3af6577_4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fa3af6577_4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dfa3af6577_4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dfa3af6577_4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fa3af6577_4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dfa3af6577_4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dfa3af6577_4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fa3af6577_4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dfa3af6577_4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dfa3af6577_4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fa3af6577_4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dfa3af6577_4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dfa3af6577_4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fa3af6577_4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dfa3af6577_4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dfa3af6577_4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fa3af6577_4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dfa3af6577_4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dfa3af6577_4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fa3af6577_4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g3dfa3af6577_4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dfa3af6577_4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fa3af6577_4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dfa3af6577_4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dfa3af6577_4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fa3af6577_4_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fa3af6577_4_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dfa3af6577_4_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fa3af6577_4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dfa3af6577_4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dfa3af6577_4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fa3af6577_4_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dfa3af6577_4_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3" name="Google Shape;223;g3dfa3af6577_4_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fa3af6577_4_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dfa3af6577_4_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dfa3af6577_4_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fa3af6577_4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fa3af6577_4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dfa3af6577_4_1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fa3af6577_4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3dfa3af6577_4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g3dfa3af6577_4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dfa3af6577_4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dfa3af6577_4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dfa3af6577_4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1"/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/>
          <p:nvPr/>
        </p:nvSpPr>
        <p:spPr>
          <a:xfrm>
            <a:off x="2289831" y="3467491"/>
            <a:ext cx="141446" cy="135160"/>
          </a:xfrm>
          <a:custGeom>
            <a:rect b="b" l="l" r="r" t="t"/>
            <a:pathLst>
              <a:path extrusionOk="0" h="114300" w="142875">
                <a:moveTo>
                  <a:pt x="78581" y="0"/>
                </a:moveTo>
                <a:cubicBezTo>
                  <a:pt x="78581" y="-3951"/>
                  <a:pt x="75389" y="-7144"/>
                  <a:pt x="71438" y="-7144"/>
                </a:cubicBezTo>
                <a:cubicBezTo>
                  <a:pt x="67486" y="-7144"/>
                  <a:pt x="64294" y="-3951"/>
                  <a:pt x="64294" y="0"/>
                </a:cubicBezTo>
                <a:lnTo>
                  <a:pt x="64294" y="14288"/>
                </a:lnTo>
                <a:lnTo>
                  <a:pt x="42863" y="14288"/>
                </a:lnTo>
                <a:cubicBezTo>
                  <a:pt x="31031" y="14288"/>
                  <a:pt x="21431" y="23887"/>
                  <a:pt x="21431" y="35719"/>
                </a:cubicBezTo>
                <a:lnTo>
                  <a:pt x="21431" y="85725"/>
                </a:lnTo>
                <a:cubicBezTo>
                  <a:pt x="21431" y="97557"/>
                  <a:pt x="31031" y="107156"/>
                  <a:pt x="42863" y="107156"/>
                </a:cubicBezTo>
                <a:lnTo>
                  <a:pt x="100013" y="107156"/>
                </a:lnTo>
                <a:cubicBezTo>
                  <a:pt x="111844" y="107156"/>
                  <a:pt x="121444" y="97557"/>
                  <a:pt x="121444" y="85725"/>
                </a:cubicBezTo>
                <a:lnTo>
                  <a:pt x="121444" y="35719"/>
                </a:lnTo>
                <a:cubicBezTo>
                  <a:pt x="121444" y="23887"/>
                  <a:pt x="111844" y="14288"/>
                  <a:pt x="100013" y="14288"/>
                </a:cubicBezTo>
                <a:lnTo>
                  <a:pt x="78581" y="14288"/>
                </a:lnTo>
                <a:lnTo>
                  <a:pt x="78581" y="0"/>
                </a:lnTo>
                <a:close/>
                <a:moveTo>
                  <a:pt x="35719" y="82153"/>
                </a:moveTo>
                <a:cubicBezTo>
                  <a:pt x="35719" y="79184"/>
                  <a:pt x="38107" y="76795"/>
                  <a:pt x="41077" y="76795"/>
                </a:cubicBezTo>
                <a:lnTo>
                  <a:pt x="48220" y="76795"/>
                </a:lnTo>
                <a:cubicBezTo>
                  <a:pt x="51189" y="76795"/>
                  <a:pt x="53578" y="79184"/>
                  <a:pt x="53578" y="82153"/>
                </a:cubicBezTo>
                <a:cubicBezTo>
                  <a:pt x="53578" y="85122"/>
                  <a:pt x="51189" y="87511"/>
                  <a:pt x="48220" y="87511"/>
                </a:cubicBezTo>
                <a:lnTo>
                  <a:pt x="41077" y="87511"/>
                </a:lnTo>
                <a:cubicBezTo>
                  <a:pt x="38107" y="87511"/>
                  <a:pt x="35719" y="85122"/>
                  <a:pt x="35719" y="82153"/>
                </a:cubicBezTo>
                <a:close/>
                <a:moveTo>
                  <a:pt x="62508" y="82153"/>
                </a:moveTo>
                <a:cubicBezTo>
                  <a:pt x="62508" y="79184"/>
                  <a:pt x="64897" y="76795"/>
                  <a:pt x="67866" y="76795"/>
                </a:cubicBezTo>
                <a:lnTo>
                  <a:pt x="75009" y="76795"/>
                </a:lnTo>
                <a:cubicBezTo>
                  <a:pt x="77978" y="76795"/>
                  <a:pt x="80367" y="79184"/>
                  <a:pt x="80367" y="82153"/>
                </a:cubicBezTo>
                <a:cubicBezTo>
                  <a:pt x="80367" y="85122"/>
                  <a:pt x="77978" y="87511"/>
                  <a:pt x="75009" y="87511"/>
                </a:cubicBezTo>
                <a:lnTo>
                  <a:pt x="67866" y="87511"/>
                </a:lnTo>
                <a:cubicBezTo>
                  <a:pt x="64897" y="87511"/>
                  <a:pt x="62508" y="85122"/>
                  <a:pt x="62508" y="82153"/>
                </a:cubicBezTo>
                <a:close/>
                <a:moveTo>
                  <a:pt x="89297" y="82153"/>
                </a:moveTo>
                <a:cubicBezTo>
                  <a:pt x="89297" y="79184"/>
                  <a:pt x="91686" y="76795"/>
                  <a:pt x="94655" y="76795"/>
                </a:cubicBezTo>
                <a:lnTo>
                  <a:pt x="101798" y="76795"/>
                </a:lnTo>
                <a:cubicBezTo>
                  <a:pt x="104768" y="76795"/>
                  <a:pt x="107156" y="79184"/>
                  <a:pt x="107156" y="82153"/>
                </a:cubicBezTo>
                <a:cubicBezTo>
                  <a:pt x="107156" y="85122"/>
                  <a:pt x="104768" y="87511"/>
                  <a:pt x="101798" y="87511"/>
                </a:cubicBezTo>
                <a:lnTo>
                  <a:pt x="94655" y="87511"/>
                </a:lnTo>
                <a:cubicBezTo>
                  <a:pt x="91686" y="87511"/>
                  <a:pt x="89297" y="85122"/>
                  <a:pt x="89297" y="82153"/>
                </a:cubicBezTo>
                <a:close/>
                <a:moveTo>
                  <a:pt x="50006" y="39291"/>
                </a:moveTo>
                <a:cubicBezTo>
                  <a:pt x="55920" y="39291"/>
                  <a:pt x="60722" y="44092"/>
                  <a:pt x="60722" y="50006"/>
                </a:cubicBezTo>
                <a:cubicBezTo>
                  <a:pt x="60722" y="55920"/>
                  <a:pt x="55920" y="60722"/>
                  <a:pt x="50006" y="60722"/>
                </a:cubicBezTo>
                <a:cubicBezTo>
                  <a:pt x="44092" y="60722"/>
                  <a:pt x="39291" y="55920"/>
                  <a:pt x="39291" y="50006"/>
                </a:cubicBezTo>
                <a:cubicBezTo>
                  <a:pt x="39291" y="44092"/>
                  <a:pt x="44092" y="39291"/>
                  <a:pt x="50006" y="39291"/>
                </a:cubicBezTo>
                <a:close/>
                <a:moveTo>
                  <a:pt x="82153" y="50006"/>
                </a:moveTo>
                <a:cubicBezTo>
                  <a:pt x="82153" y="44092"/>
                  <a:pt x="86955" y="39291"/>
                  <a:pt x="92869" y="39291"/>
                </a:cubicBezTo>
                <a:cubicBezTo>
                  <a:pt x="98783" y="39291"/>
                  <a:pt x="103584" y="44092"/>
                  <a:pt x="103584" y="50006"/>
                </a:cubicBezTo>
                <a:cubicBezTo>
                  <a:pt x="103584" y="55920"/>
                  <a:pt x="98783" y="60722"/>
                  <a:pt x="92869" y="60722"/>
                </a:cubicBezTo>
                <a:cubicBezTo>
                  <a:pt x="86955" y="60722"/>
                  <a:pt x="82153" y="55920"/>
                  <a:pt x="82153" y="50006"/>
                </a:cubicBezTo>
                <a:close/>
                <a:moveTo>
                  <a:pt x="14288" y="50006"/>
                </a:moveTo>
                <a:cubicBezTo>
                  <a:pt x="14288" y="46055"/>
                  <a:pt x="11095" y="42863"/>
                  <a:pt x="7144" y="42863"/>
                </a:cubicBezTo>
                <a:cubicBezTo>
                  <a:pt x="3192" y="42863"/>
                  <a:pt x="0" y="46055"/>
                  <a:pt x="0" y="50006"/>
                </a:cubicBezTo>
                <a:lnTo>
                  <a:pt x="0" y="71438"/>
                </a:lnTo>
                <a:cubicBezTo>
                  <a:pt x="0" y="75389"/>
                  <a:pt x="3192" y="78581"/>
                  <a:pt x="7144" y="78581"/>
                </a:cubicBezTo>
                <a:cubicBezTo>
                  <a:pt x="11095" y="78581"/>
                  <a:pt x="14288" y="75389"/>
                  <a:pt x="14288" y="71438"/>
                </a:cubicBezTo>
                <a:lnTo>
                  <a:pt x="14288" y="50006"/>
                </a:lnTo>
                <a:close/>
                <a:moveTo>
                  <a:pt x="135731" y="42863"/>
                </a:moveTo>
                <a:cubicBezTo>
                  <a:pt x="131780" y="42863"/>
                  <a:pt x="128588" y="46055"/>
                  <a:pt x="128588" y="50006"/>
                </a:cubicBezTo>
                <a:lnTo>
                  <a:pt x="128588" y="71438"/>
                </a:lnTo>
                <a:cubicBezTo>
                  <a:pt x="128588" y="75389"/>
                  <a:pt x="131780" y="78581"/>
                  <a:pt x="135731" y="78581"/>
                </a:cubicBezTo>
                <a:cubicBezTo>
                  <a:pt x="139683" y="78581"/>
                  <a:pt x="142875" y="75389"/>
                  <a:pt x="142875" y="71438"/>
                </a:cubicBezTo>
                <a:lnTo>
                  <a:pt x="142875" y="50006"/>
                </a:lnTo>
                <a:cubicBezTo>
                  <a:pt x="142875" y="46055"/>
                  <a:pt x="139683" y="42863"/>
                  <a:pt x="135731" y="42863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108200" lIns="108200" spcFirstLastPara="1" rIns="108200" wrap="square" tIns="108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7"/>
              <a:buFont typeface="Arial"/>
              <a:buNone/>
            </a:pPr>
            <a:r>
              <a:t/>
            </a:r>
            <a:endParaRPr b="0" i="0" sz="165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219000" y="3033934"/>
            <a:ext cx="914400" cy="28575"/>
          </a:xfrm>
          <a:custGeom>
            <a:rect b="b" l="l" r="r" t="t"/>
            <a:pathLst>
              <a:path extrusionOk="0" h="28575" w="914400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>
            <a:noFill/>
          </a:ln>
        </p:spPr>
      </p:sp>
      <p:sp>
        <p:nvSpPr>
          <p:cNvPr id="22" name="Google Shape;22;p7"/>
          <p:cNvSpPr/>
          <p:nvPr/>
        </p:nvSpPr>
        <p:spPr>
          <a:xfrm>
            <a:off x="381000" y="3234905"/>
            <a:ext cx="11605200" cy="7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An Agentic RAG Framework for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Personalized Meal Planning and Nutritional Analysis                                         </a:t>
            </a:r>
            <a:r>
              <a:rPr b="1" i="0" lang="en-US" sz="240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   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7"/>
          <p:cNvSpPr/>
          <p:nvPr/>
        </p:nvSpPr>
        <p:spPr>
          <a:xfrm>
            <a:off x="189867" y="2015062"/>
            <a:ext cx="137910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AI-Based Personalized</a:t>
            </a:r>
            <a:endParaRPr b="1" i="0" sz="5400" u="none" cap="none" strike="noStrike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5400" u="none" cap="none" strike="noStrike">
                <a:solidFill>
                  <a:srgbClr val="0071E3"/>
                </a:solidFill>
                <a:latin typeface="Liter"/>
                <a:ea typeface="Liter"/>
                <a:cs typeface="Liter"/>
                <a:sym typeface="Liter"/>
              </a:rPr>
              <a:t>Nutrition &amp; Meal </a:t>
            </a:r>
            <a:r>
              <a:rPr b="1" i="0" lang="en-US" sz="5400" u="none" cap="none" strike="noStrike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Planning 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t/>
            </a:r>
            <a:endParaRPr b="1" i="0" sz="5400" u="none" cap="none" strike="noStrike">
              <a:solidFill>
                <a:srgbClr val="1D1D1D"/>
              </a:solidFill>
              <a:latin typeface="Liter"/>
              <a:ea typeface="Liter"/>
              <a:cs typeface="Liter"/>
              <a:sym typeface="Liter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1EB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 rot="5400000">
            <a:off x="5309075" y="-5305800"/>
            <a:ext cx="1614600" cy="122262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8"/>
          <p:cNvSpPr/>
          <p:nvPr/>
        </p:nvSpPr>
        <p:spPr>
          <a:xfrm>
            <a:off x="477811" y="585564"/>
            <a:ext cx="5318400" cy="85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Problem</a:t>
            </a: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6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Statement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571500" y="1404547"/>
            <a:ext cx="762000" cy="19200"/>
          </a:xfrm>
          <a:prstGeom prst="rect">
            <a:avLst/>
          </a:prstGeom>
          <a:solidFill>
            <a:srgbClr val="C4A26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1074295" y="1949502"/>
            <a:ext cx="209550" cy="209550"/>
          </a:xfrm>
          <a:custGeom>
            <a:rect b="b" l="l" r="r" t="t"/>
            <a:pathLst>
              <a:path extrusionOk="0" h="279400" w="279400">
                <a:moveTo>
                  <a:pt x="34925" y="34925"/>
                </a:moveTo>
                <a:cubicBezTo>
                  <a:pt x="34925" y="25266"/>
                  <a:pt x="27121" y="17463"/>
                  <a:pt x="17463" y="17463"/>
                </a:cubicBezTo>
                <a:cubicBezTo>
                  <a:pt x="7804" y="17463"/>
                  <a:pt x="0" y="25266"/>
                  <a:pt x="0" y="34925"/>
                </a:cubicBezTo>
                <a:lnTo>
                  <a:pt x="0" y="218281"/>
                </a:lnTo>
                <a:cubicBezTo>
                  <a:pt x="0" y="242401"/>
                  <a:pt x="19536" y="261938"/>
                  <a:pt x="43656" y="261938"/>
                </a:cubicBezTo>
                <a:lnTo>
                  <a:pt x="261938" y="261938"/>
                </a:lnTo>
                <a:cubicBezTo>
                  <a:pt x="271596" y="261938"/>
                  <a:pt x="279400" y="254134"/>
                  <a:pt x="279400" y="244475"/>
                </a:cubicBezTo>
                <a:cubicBezTo>
                  <a:pt x="279400" y="234816"/>
                  <a:pt x="271596" y="227013"/>
                  <a:pt x="261938" y="227013"/>
                </a:cubicBezTo>
                <a:lnTo>
                  <a:pt x="43656" y="227013"/>
                </a:lnTo>
                <a:cubicBezTo>
                  <a:pt x="38854" y="227013"/>
                  <a:pt x="34925" y="223083"/>
                  <a:pt x="34925" y="218281"/>
                </a:cubicBezTo>
                <a:lnTo>
                  <a:pt x="34925" y="34925"/>
                </a:lnTo>
                <a:close/>
                <a:moveTo>
                  <a:pt x="256808" y="82183"/>
                </a:moveTo>
                <a:cubicBezTo>
                  <a:pt x="263629" y="75362"/>
                  <a:pt x="263629" y="64284"/>
                  <a:pt x="256808" y="57463"/>
                </a:cubicBezTo>
                <a:cubicBezTo>
                  <a:pt x="249987" y="50641"/>
                  <a:pt x="238909" y="50641"/>
                  <a:pt x="232088" y="57463"/>
                </a:cubicBezTo>
                <a:lnTo>
                  <a:pt x="174625" y="114980"/>
                </a:lnTo>
                <a:lnTo>
                  <a:pt x="143302" y="83711"/>
                </a:lnTo>
                <a:cubicBezTo>
                  <a:pt x="136480" y="76890"/>
                  <a:pt x="125403" y="76890"/>
                  <a:pt x="118581" y="83711"/>
                </a:cubicBezTo>
                <a:lnTo>
                  <a:pt x="66194" y="136098"/>
                </a:lnTo>
                <a:cubicBezTo>
                  <a:pt x="59373" y="142920"/>
                  <a:pt x="59373" y="153997"/>
                  <a:pt x="66194" y="160819"/>
                </a:cubicBezTo>
                <a:cubicBezTo>
                  <a:pt x="73015" y="167640"/>
                  <a:pt x="84093" y="167640"/>
                  <a:pt x="90914" y="160819"/>
                </a:cubicBezTo>
                <a:lnTo>
                  <a:pt x="130969" y="120764"/>
                </a:lnTo>
                <a:lnTo>
                  <a:pt x="162292" y="152087"/>
                </a:lnTo>
                <a:cubicBezTo>
                  <a:pt x="169113" y="158909"/>
                  <a:pt x="180191" y="158909"/>
                  <a:pt x="187012" y="152087"/>
                </a:cubicBezTo>
                <a:lnTo>
                  <a:pt x="256862" y="82237"/>
                </a:lnTo>
                <a:close/>
              </a:path>
            </a:pathLst>
          </a:custGeom>
          <a:solidFill>
            <a:srgbClr val="C4A26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8"/>
          <p:cNvSpPr/>
          <p:nvPr/>
        </p:nvSpPr>
        <p:spPr>
          <a:xfrm>
            <a:off x="1436245" y="1901877"/>
            <a:ext cx="6667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 calorie tracking is tedious and often inaccurate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8"/>
          <p:cNvSpPr/>
          <p:nvPr/>
        </p:nvSpPr>
        <p:spPr>
          <a:xfrm>
            <a:off x="1048101" y="2902002"/>
            <a:ext cx="261938" cy="209550"/>
          </a:xfrm>
          <a:custGeom>
            <a:rect b="b" l="l" r="r" t="t"/>
            <a:pathLst>
              <a:path extrusionOk="0" h="279400" w="349250">
                <a:moveTo>
                  <a:pt x="247258" y="-20027"/>
                </a:moveTo>
                <a:lnTo>
                  <a:pt x="240601" y="-13424"/>
                </a:lnTo>
                <a:cubicBezTo>
                  <a:pt x="223575" y="3602"/>
                  <a:pt x="223575" y="31269"/>
                  <a:pt x="240601" y="48295"/>
                </a:cubicBezTo>
                <a:cubicBezTo>
                  <a:pt x="249113" y="56808"/>
                  <a:pt x="257626" y="65321"/>
                  <a:pt x="266194" y="73888"/>
                </a:cubicBezTo>
                <a:cubicBezTo>
                  <a:pt x="283220" y="90914"/>
                  <a:pt x="310887" y="90914"/>
                  <a:pt x="327913" y="73888"/>
                </a:cubicBezTo>
                <a:lnTo>
                  <a:pt x="334516" y="67285"/>
                </a:lnTo>
                <a:cubicBezTo>
                  <a:pt x="337899" y="63902"/>
                  <a:pt x="337899" y="58336"/>
                  <a:pt x="334516" y="54952"/>
                </a:cubicBezTo>
                <a:lnTo>
                  <a:pt x="327913" y="48349"/>
                </a:lnTo>
                <a:cubicBezTo>
                  <a:pt x="310887" y="31323"/>
                  <a:pt x="283220" y="31323"/>
                  <a:pt x="266194" y="48349"/>
                </a:cubicBezTo>
                <a:cubicBezTo>
                  <a:pt x="283220" y="31323"/>
                  <a:pt x="283220" y="3656"/>
                  <a:pt x="266194" y="-13370"/>
                </a:cubicBezTo>
                <a:lnTo>
                  <a:pt x="259591" y="-20027"/>
                </a:lnTo>
                <a:cubicBezTo>
                  <a:pt x="256208" y="-23411"/>
                  <a:pt x="250641" y="-23411"/>
                  <a:pt x="247258" y="-20027"/>
                </a:cubicBezTo>
                <a:close/>
                <a:moveTo>
                  <a:pt x="180955" y="52388"/>
                </a:moveTo>
                <a:cubicBezTo>
                  <a:pt x="156289" y="52388"/>
                  <a:pt x="133424" y="63520"/>
                  <a:pt x="118199" y="82019"/>
                </a:cubicBezTo>
                <a:lnTo>
                  <a:pt x="149141" y="112961"/>
                </a:lnTo>
                <a:cubicBezTo>
                  <a:pt x="154270" y="118090"/>
                  <a:pt x="154270" y="126385"/>
                  <a:pt x="149141" y="131460"/>
                </a:cubicBezTo>
                <a:cubicBezTo>
                  <a:pt x="144011" y="136535"/>
                  <a:pt x="135716" y="136589"/>
                  <a:pt x="130641" y="131460"/>
                </a:cubicBezTo>
                <a:lnTo>
                  <a:pt x="104557" y="105430"/>
                </a:lnTo>
                <a:lnTo>
                  <a:pt x="36671" y="254734"/>
                </a:lnTo>
                <a:cubicBezTo>
                  <a:pt x="33670" y="261337"/>
                  <a:pt x="35089" y="269141"/>
                  <a:pt x="40218" y="274325"/>
                </a:cubicBezTo>
                <a:cubicBezTo>
                  <a:pt x="45348" y="279509"/>
                  <a:pt x="53151" y="280873"/>
                  <a:pt x="59809" y="277872"/>
                </a:cubicBezTo>
                <a:lnTo>
                  <a:pt x="137081" y="242729"/>
                </a:lnTo>
                <a:lnTo>
                  <a:pt x="113179" y="218827"/>
                </a:lnTo>
                <a:cubicBezTo>
                  <a:pt x="108049" y="213697"/>
                  <a:pt x="108049" y="205403"/>
                  <a:pt x="113179" y="200328"/>
                </a:cubicBezTo>
                <a:cubicBezTo>
                  <a:pt x="118308" y="195253"/>
                  <a:pt x="126603" y="195198"/>
                  <a:pt x="131678" y="200328"/>
                </a:cubicBezTo>
                <a:lnTo>
                  <a:pt x="162510" y="231160"/>
                </a:lnTo>
                <a:lnTo>
                  <a:pt x="214516" y="207531"/>
                </a:lnTo>
                <a:cubicBezTo>
                  <a:pt x="243493" y="194379"/>
                  <a:pt x="262101" y="165457"/>
                  <a:pt x="262101" y="133588"/>
                </a:cubicBezTo>
                <a:cubicBezTo>
                  <a:pt x="262101" y="88731"/>
                  <a:pt x="225757" y="52387"/>
                  <a:pt x="180901" y="52387"/>
                </a:cubicBezTo>
                <a:close/>
              </a:path>
            </a:pathLst>
          </a:custGeom>
          <a:solidFill>
            <a:srgbClr val="C4A26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8"/>
          <p:cNvSpPr/>
          <p:nvPr/>
        </p:nvSpPr>
        <p:spPr>
          <a:xfrm>
            <a:off x="1436245" y="2854377"/>
            <a:ext cx="6667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Existing apps lack personalized meal planning based on ingredients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8"/>
          <p:cNvSpPr/>
          <p:nvPr/>
        </p:nvSpPr>
        <p:spPr>
          <a:xfrm>
            <a:off x="1074295" y="3854502"/>
            <a:ext cx="209550" cy="209550"/>
          </a:xfrm>
          <a:custGeom>
            <a:rect b="b" l="l" r="r" t="t"/>
            <a:pathLst>
              <a:path extrusionOk="0" h="279400" w="279400">
                <a:moveTo>
                  <a:pt x="126876" y="2838"/>
                </a:moveTo>
                <a:cubicBezTo>
                  <a:pt x="135007" y="-928"/>
                  <a:pt x="144393" y="-928"/>
                  <a:pt x="152524" y="2838"/>
                </a:cubicBezTo>
                <a:lnTo>
                  <a:pt x="271815" y="57954"/>
                </a:lnTo>
                <a:cubicBezTo>
                  <a:pt x="276453" y="60082"/>
                  <a:pt x="279400" y="64720"/>
                  <a:pt x="279400" y="69850"/>
                </a:cubicBezTo>
                <a:cubicBezTo>
                  <a:pt x="279400" y="74980"/>
                  <a:pt x="276453" y="79618"/>
                  <a:pt x="271815" y="81746"/>
                </a:cubicBezTo>
                <a:lnTo>
                  <a:pt x="152524" y="136862"/>
                </a:lnTo>
                <a:cubicBezTo>
                  <a:pt x="144393" y="140628"/>
                  <a:pt x="135007" y="140628"/>
                  <a:pt x="126876" y="136862"/>
                </a:cubicBezTo>
                <a:lnTo>
                  <a:pt x="7585" y="81746"/>
                </a:lnTo>
                <a:cubicBezTo>
                  <a:pt x="2947" y="79564"/>
                  <a:pt x="0" y="74925"/>
                  <a:pt x="0" y="69850"/>
                </a:cubicBezTo>
                <a:cubicBezTo>
                  <a:pt x="0" y="64775"/>
                  <a:pt x="2947" y="60082"/>
                  <a:pt x="7585" y="57954"/>
                </a:cubicBezTo>
                <a:lnTo>
                  <a:pt x="126876" y="2838"/>
                </a:lnTo>
                <a:close/>
                <a:moveTo>
                  <a:pt x="26248" y="119182"/>
                </a:moveTo>
                <a:lnTo>
                  <a:pt x="115907" y="160600"/>
                </a:lnTo>
                <a:cubicBezTo>
                  <a:pt x="131023" y="167585"/>
                  <a:pt x="148431" y="167585"/>
                  <a:pt x="163547" y="160600"/>
                </a:cubicBezTo>
                <a:lnTo>
                  <a:pt x="253206" y="119182"/>
                </a:lnTo>
                <a:lnTo>
                  <a:pt x="271815" y="127804"/>
                </a:lnTo>
                <a:cubicBezTo>
                  <a:pt x="276453" y="129932"/>
                  <a:pt x="279400" y="134570"/>
                  <a:pt x="279400" y="139700"/>
                </a:cubicBezTo>
                <a:cubicBezTo>
                  <a:pt x="279400" y="144830"/>
                  <a:pt x="276453" y="149468"/>
                  <a:pt x="271815" y="151596"/>
                </a:cubicBezTo>
                <a:lnTo>
                  <a:pt x="152524" y="206712"/>
                </a:lnTo>
                <a:cubicBezTo>
                  <a:pt x="144393" y="210478"/>
                  <a:pt x="135007" y="210478"/>
                  <a:pt x="126876" y="206712"/>
                </a:cubicBezTo>
                <a:lnTo>
                  <a:pt x="7585" y="151596"/>
                </a:lnTo>
                <a:cubicBezTo>
                  <a:pt x="2947" y="149414"/>
                  <a:pt x="0" y="144775"/>
                  <a:pt x="0" y="139700"/>
                </a:cubicBezTo>
                <a:cubicBezTo>
                  <a:pt x="0" y="134625"/>
                  <a:pt x="2947" y="129932"/>
                  <a:pt x="7585" y="127804"/>
                </a:cubicBezTo>
                <a:lnTo>
                  <a:pt x="26194" y="119182"/>
                </a:lnTo>
                <a:close/>
                <a:moveTo>
                  <a:pt x="7585" y="197654"/>
                </a:moveTo>
                <a:lnTo>
                  <a:pt x="26194" y="189032"/>
                </a:lnTo>
                <a:lnTo>
                  <a:pt x="115853" y="230450"/>
                </a:lnTo>
                <a:cubicBezTo>
                  <a:pt x="130969" y="237435"/>
                  <a:pt x="148377" y="237435"/>
                  <a:pt x="163493" y="230450"/>
                </a:cubicBezTo>
                <a:lnTo>
                  <a:pt x="253152" y="189032"/>
                </a:lnTo>
                <a:lnTo>
                  <a:pt x="271760" y="197654"/>
                </a:lnTo>
                <a:cubicBezTo>
                  <a:pt x="276399" y="199782"/>
                  <a:pt x="279345" y="204420"/>
                  <a:pt x="279345" y="209550"/>
                </a:cubicBezTo>
                <a:cubicBezTo>
                  <a:pt x="279345" y="214680"/>
                  <a:pt x="276399" y="219318"/>
                  <a:pt x="271760" y="221446"/>
                </a:cubicBezTo>
                <a:lnTo>
                  <a:pt x="152469" y="276562"/>
                </a:lnTo>
                <a:cubicBezTo>
                  <a:pt x="144338" y="280328"/>
                  <a:pt x="134952" y="280328"/>
                  <a:pt x="126821" y="276562"/>
                </a:cubicBezTo>
                <a:lnTo>
                  <a:pt x="7585" y="221446"/>
                </a:lnTo>
                <a:cubicBezTo>
                  <a:pt x="2947" y="219264"/>
                  <a:pt x="0" y="214625"/>
                  <a:pt x="0" y="209550"/>
                </a:cubicBezTo>
                <a:cubicBezTo>
                  <a:pt x="0" y="204475"/>
                  <a:pt x="2947" y="199782"/>
                  <a:pt x="7585" y="197654"/>
                </a:cubicBezTo>
                <a:close/>
              </a:path>
            </a:pathLst>
          </a:custGeom>
          <a:solidFill>
            <a:srgbClr val="C4A26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"/>
          <p:cNvSpPr/>
          <p:nvPr/>
        </p:nvSpPr>
        <p:spPr>
          <a:xfrm>
            <a:off x="1436245" y="3806877"/>
            <a:ext cx="6667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unified system combining food recognition + nutrition + planning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1087392" y="4807002"/>
            <a:ext cx="183356" cy="209550"/>
          </a:xfrm>
          <a:custGeom>
            <a:rect b="b" l="l" r="r" t="t"/>
            <a:pathLst>
              <a:path extrusionOk="0" h="279400" w="244475">
                <a:moveTo>
                  <a:pt x="69850" y="21828"/>
                </a:moveTo>
                <a:cubicBezTo>
                  <a:pt x="69850" y="9768"/>
                  <a:pt x="79618" y="0"/>
                  <a:pt x="91678" y="0"/>
                </a:cubicBezTo>
                <a:cubicBezTo>
                  <a:pt x="103738" y="0"/>
                  <a:pt x="113506" y="9768"/>
                  <a:pt x="113506" y="21828"/>
                </a:cubicBezTo>
                <a:lnTo>
                  <a:pt x="113506" y="102701"/>
                </a:lnTo>
                <a:cubicBezTo>
                  <a:pt x="118145" y="98554"/>
                  <a:pt x="124257" y="96044"/>
                  <a:pt x="130969" y="96044"/>
                </a:cubicBezTo>
                <a:cubicBezTo>
                  <a:pt x="142210" y="96044"/>
                  <a:pt x="151815" y="103138"/>
                  <a:pt x="155525" y="113070"/>
                </a:cubicBezTo>
                <a:cubicBezTo>
                  <a:pt x="160328" y="107995"/>
                  <a:pt x="167094" y="104775"/>
                  <a:pt x="174625" y="104775"/>
                </a:cubicBezTo>
                <a:cubicBezTo>
                  <a:pt x="188431" y="104775"/>
                  <a:pt x="199727" y="115416"/>
                  <a:pt x="200764" y="128950"/>
                </a:cubicBezTo>
                <a:cubicBezTo>
                  <a:pt x="205403" y="124748"/>
                  <a:pt x="211569" y="122238"/>
                  <a:pt x="218281" y="122238"/>
                </a:cubicBezTo>
                <a:cubicBezTo>
                  <a:pt x="232742" y="122238"/>
                  <a:pt x="244475" y="133970"/>
                  <a:pt x="244475" y="148431"/>
                </a:cubicBezTo>
                <a:lnTo>
                  <a:pt x="244475" y="209550"/>
                </a:lnTo>
                <a:cubicBezTo>
                  <a:pt x="244475" y="248131"/>
                  <a:pt x="213206" y="279400"/>
                  <a:pt x="174625" y="279400"/>
                </a:cubicBezTo>
                <a:lnTo>
                  <a:pt x="128077" y="279400"/>
                </a:lnTo>
                <a:cubicBezTo>
                  <a:pt x="125348" y="279400"/>
                  <a:pt x="122674" y="279236"/>
                  <a:pt x="120055" y="278854"/>
                </a:cubicBezTo>
                <a:cubicBezTo>
                  <a:pt x="89877" y="275798"/>
                  <a:pt x="62101" y="260300"/>
                  <a:pt x="43656" y="235744"/>
                </a:cubicBezTo>
                <a:lnTo>
                  <a:pt x="4366" y="183356"/>
                </a:lnTo>
                <a:cubicBezTo>
                  <a:pt x="-2892" y="173697"/>
                  <a:pt x="-928" y="160055"/>
                  <a:pt x="8731" y="152797"/>
                </a:cubicBezTo>
                <a:cubicBezTo>
                  <a:pt x="18390" y="145539"/>
                  <a:pt x="32033" y="147504"/>
                  <a:pt x="39291" y="157163"/>
                </a:cubicBezTo>
                <a:lnTo>
                  <a:pt x="69850" y="197927"/>
                </a:lnTo>
                <a:lnTo>
                  <a:pt x="69850" y="21828"/>
                </a:lnTo>
                <a:close/>
                <a:moveTo>
                  <a:pt x="130969" y="165894"/>
                </a:moveTo>
                <a:cubicBezTo>
                  <a:pt x="130969" y="161092"/>
                  <a:pt x="127040" y="157163"/>
                  <a:pt x="122238" y="157163"/>
                </a:cubicBezTo>
                <a:cubicBezTo>
                  <a:pt x="117435" y="157163"/>
                  <a:pt x="113506" y="161092"/>
                  <a:pt x="113506" y="165894"/>
                </a:cubicBezTo>
                <a:lnTo>
                  <a:pt x="113506" y="218281"/>
                </a:lnTo>
                <a:cubicBezTo>
                  <a:pt x="113506" y="223083"/>
                  <a:pt x="117435" y="227013"/>
                  <a:pt x="122238" y="227013"/>
                </a:cubicBezTo>
                <a:cubicBezTo>
                  <a:pt x="127040" y="227013"/>
                  <a:pt x="130969" y="223083"/>
                  <a:pt x="130969" y="218281"/>
                </a:cubicBezTo>
                <a:lnTo>
                  <a:pt x="130969" y="165894"/>
                </a:lnTo>
                <a:close/>
                <a:moveTo>
                  <a:pt x="157163" y="157163"/>
                </a:moveTo>
                <a:cubicBezTo>
                  <a:pt x="152360" y="157163"/>
                  <a:pt x="148431" y="161092"/>
                  <a:pt x="148431" y="165894"/>
                </a:cubicBezTo>
                <a:lnTo>
                  <a:pt x="148431" y="218281"/>
                </a:lnTo>
                <a:cubicBezTo>
                  <a:pt x="148431" y="223083"/>
                  <a:pt x="152360" y="227013"/>
                  <a:pt x="157163" y="227013"/>
                </a:cubicBezTo>
                <a:cubicBezTo>
                  <a:pt x="161965" y="227013"/>
                  <a:pt x="165894" y="223083"/>
                  <a:pt x="165894" y="218281"/>
                </a:cubicBezTo>
                <a:lnTo>
                  <a:pt x="165894" y="165894"/>
                </a:lnTo>
                <a:cubicBezTo>
                  <a:pt x="165894" y="161092"/>
                  <a:pt x="161965" y="157163"/>
                  <a:pt x="157163" y="157163"/>
                </a:cubicBezTo>
                <a:close/>
                <a:moveTo>
                  <a:pt x="200819" y="165894"/>
                </a:moveTo>
                <a:cubicBezTo>
                  <a:pt x="200819" y="161092"/>
                  <a:pt x="196890" y="157163"/>
                  <a:pt x="192088" y="157163"/>
                </a:cubicBezTo>
                <a:cubicBezTo>
                  <a:pt x="187285" y="157163"/>
                  <a:pt x="183356" y="161092"/>
                  <a:pt x="183356" y="165894"/>
                </a:cubicBezTo>
                <a:lnTo>
                  <a:pt x="183356" y="218281"/>
                </a:lnTo>
                <a:cubicBezTo>
                  <a:pt x="183356" y="223083"/>
                  <a:pt x="187285" y="227013"/>
                  <a:pt x="192088" y="227013"/>
                </a:cubicBezTo>
                <a:cubicBezTo>
                  <a:pt x="196890" y="227013"/>
                  <a:pt x="200819" y="223083"/>
                  <a:pt x="200819" y="218281"/>
                </a:cubicBezTo>
                <a:lnTo>
                  <a:pt x="200819" y="165894"/>
                </a:lnTo>
                <a:close/>
              </a:path>
            </a:pathLst>
          </a:custGeom>
          <a:solidFill>
            <a:srgbClr val="C4A26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1436245" y="4759377"/>
            <a:ext cx="6667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rely on manual logging and fragmented tools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8"/>
          <p:cNvSpPr/>
          <p:nvPr/>
        </p:nvSpPr>
        <p:spPr>
          <a:xfrm>
            <a:off x="1074295" y="5759502"/>
            <a:ext cx="209550" cy="209550"/>
          </a:xfrm>
          <a:custGeom>
            <a:rect b="b" l="l" r="r" t="t"/>
            <a:pathLst>
              <a:path extrusionOk="0" h="279400" w="279400">
                <a:moveTo>
                  <a:pt x="65484" y="30559"/>
                </a:moveTo>
                <a:cubicBezTo>
                  <a:pt x="65484" y="13697"/>
                  <a:pt x="79182" y="0"/>
                  <a:pt x="96044" y="0"/>
                </a:cubicBezTo>
                <a:lnTo>
                  <a:pt x="109141" y="0"/>
                </a:lnTo>
                <a:cubicBezTo>
                  <a:pt x="118800" y="0"/>
                  <a:pt x="126603" y="7804"/>
                  <a:pt x="126603" y="17463"/>
                </a:cubicBezTo>
                <a:lnTo>
                  <a:pt x="126603" y="261938"/>
                </a:lnTo>
                <a:cubicBezTo>
                  <a:pt x="126603" y="271596"/>
                  <a:pt x="118800" y="279400"/>
                  <a:pt x="109141" y="279400"/>
                </a:cubicBezTo>
                <a:lnTo>
                  <a:pt x="91678" y="279400"/>
                </a:lnTo>
                <a:cubicBezTo>
                  <a:pt x="75416" y="279400"/>
                  <a:pt x="61719" y="268268"/>
                  <a:pt x="57845" y="253206"/>
                </a:cubicBezTo>
                <a:cubicBezTo>
                  <a:pt x="57463" y="253206"/>
                  <a:pt x="57135" y="253206"/>
                  <a:pt x="56753" y="253206"/>
                </a:cubicBezTo>
                <a:cubicBezTo>
                  <a:pt x="32633" y="253206"/>
                  <a:pt x="13097" y="233670"/>
                  <a:pt x="13097" y="209550"/>
                </a:cubicBezTo>
                <a:cubicBezTo>
                  <a:pt x="13097" y="199727"/>
                  <a:pt x="16371" y="190669"/>
                  <a:pt x="21828" y="183356"/>
                </a:cubicBezTo>
                <a:cubicBezTo>
                  <a:pt x="11241" y="175389"/>
                  <a:pt x="4366" y="162729"/>
                  <a:pt x="4366" y="148431"/>
                </a:cubicBezTo>
                <a:cubicBezTo>
                  <a:pt x="4366" y="131569"/>
                  <a:pt x="13970" y="116890"/>
                  <a:pt x="27940" y="109632"/>
                </a:cubicBezTo>
                <a:cubicBezTo>
                  <a:pt x="24066" y="103083"/>
                  <a:pt x="21828" y="95443"/>
                  <a:pt x="21828" y="87313"/>
                </a:cubicBezTo>
                <a:cubicBezTo>
                  <a:pt x="21828" y="63192"/>
                  <a:pt x="41364" y="43656"/>
                  <a:pt x="65484" y="43656"/>
                </a:cubicBezTo>
                <a:lnTo>
                  <a:pt x="65484" y="30559"/>
                </a:lnTo>
                <a:close/>
                <a:moveTo>
                  <a:pt x="213916" y="30559"/>
                </a:moveTo>
                <a:lnTo>
                  <a:pt x="213916" y="43656"/>
                </a:lnTo>
                <a:cubicBezTo>
                  <a:pt x="238036" y="43656"/>
                  <a:pt x="257572" y="63192"/>
                  <a:pt x="257572" y="87313"/>
                </a:cubicBezTo>
                <a:cubicBezTo>
                  <a:pt x="257572" y="95498"/>
                  <a:pt x="255334" y="103138"/>
                  <a:pt x="251460" y="109632"/>
                </a:cubicBezTo>
                <a:cubicBezTo>
                  <a:pt x="265485" y="116890"/>
                  <a:pt x="275034" y="131514"/>
                  <a:pt x="275034" y="148431"/>
                </a:cubicBezTo>
                <a:cubicBezTo>
                  <a:pt x="275034" y="162729"/>
                  <a:pt x="268159" y="175389"/>
                  <a:pt x="257572" y="183356"/>
                </a:cubicBezTo>
                <a:cubicBezTo>
                  <a:pt x="263029" y="190669"/>
                  <a:pt x="266303" y="199727"/>
                  <a:pt x="266303" y="209550"/>
                </a:cubicBezTo>
                <a:cubicBezTo>
                  <a:pt x="266303" y="233670"/>
                  <a:pt x="246767" y="253206"/>
                  <a:pt x="222647" y="253206"/>
                </a:cubicBezTo>
                <a:cubicBezTo>
                  <a:pt x="222265" y="253206"/>
                  <a:pt x="221937" y="253206"/>
                  <a:pt x="221555" y="253206"/>
                </a:cubicBezTo>
                <a:cubicBezTo>
                  <a:pt x="217681" y="268268"/>
                  <a:pt x="203984" y="279400"/>
                  <a:pt x="187722" y="279400"/>
                </a:cubicBezTo>
                <a:lnTo>
                  <a:pt x="170259" y="279400"/>
                </a:lnTo>
                <a:cubicBezTo>
                  <a:pt x="160600" y="279400"/>
                  <a:pt x="152797" y="271596"/>
                  <a:pt x="152797" y="261938"/>
                </a:cubicBezTo>
                <a:lnTo>
                  <a:pt x="152797" y="17463"/>
                </a:lnTo>
                <a:cubicBezTo>
                  <a:pt x="152797" y="7804"/>
                  <a:pt x="160600" y="0"/>
                  <a:pt x="170259" y="0"/>
                </a:cubicBezTo>
                <a:lnTo>
                  <a:pt x="183356" y="0"/>
                </a:lnTo>
                <a:cubicBezTo>
                  <a:pt x="200218" y="0"/>
                  <a:pt x="213916" y="13697"/>
                  <a:pt x="213916" y="30559"/>
                </a:cubicBezTo>
                <a:close/>
              </a:path>
            </a:pathLst>
          </a:custGeom>
          <a:solidFill>
            <a:srgbClr val="C4A26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/>
          <p:nvPr/>
        </p:nvSpPr>
        <p:spPr>
          <a:xfrm>
            <a:off x="1436245" y="5711877"/>
            <a:ext cx="66675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2B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Need for a zero-effort, intelligent nutrition system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/>
          <p:nvPr/>
        </p:nvSpPr>
        <p:spPr>
          <a:xfrm>
            <a:off x="4572000" y="6286500"/>
            <a:ext cx="7048500" cy="9600"/>
          </a:xfrm>
          <a:prstGeom prst="rect">
            <a:avLst/>
          </a:prstGeom>
          <a:solidFill>
            <a:srgbClr val="8A8279">
              <a:alpha val="2509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2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/>
          <p:nvPr/>
        </p:nvSpPr>
        <p:spPr>
          <a:xfrm>
            <a:off x="8715375" y="0"/>
            <a:ext cx="1743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9"/>
          <p:cNvSpPr/>
          <p:nvPr/>
        </p:nvSpPr>
        <p:spPr>
          <a:xfrm>
            <a:off x="10458450" y="0"/>
            <a:ext cx="173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9"/>
          <p:cNvSpPr/>
          <p:nvPr/>
        </p:nvSpPr>
        <p:spPr>
          <a:xfrm>
            <a:off x="571500" y="495300"/>
            <a:ext cx="38100" cy="2667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9"/>
          <p:cNvSpPr/>
          <p:nvPr/>
        </p:nvSpPr>
        <p:spPr>
          <a:xfrm>
            <a:off x="723900" y="476250"/>
            <a:ext cx="381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4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Objectives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9"/>
          <p:cNvSpPr/>
          <p:nvPr/>
        </p:nvSpPr>
        <p:spPr>
          <a:xfrm>
            <a:off x="571500" y="1047750"/>
            <a:ext cx="5381700" cy="1571700"/>
          </a:xfrm>
          <a:prstGeom prst="rect">
            <a:avLst/>
          </a:prstGeom>
          <a:solidFill>
            <a:srgbClr val="EEF0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9"/>
          <p:cNvSpPr/>
          <p:nvPr/>
        </p:nvSpPr>
        <p:spPr>
          <a:xfrm>
            <a:off x="762000" y="1190625"/>
            <a:ext cx="476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4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762000" y="1590069"/>
            <a:ext cx="5000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develop a multi-agent AI system for food analysis and meal planning.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9"/>
          <p:cNvSpPr/>
          <p:nvPr/>
        </p:nvSpPr>
        <p:spPr>
          <a:xfrm>
            <a:off x="6238875" y="1047750"/>
            <a:ext cx="5381700" cy="1571700"/>
          </a:xfrm>
          <a:prstGeom prst="rect">
            <a:avLst/>
          </a:prstGeom>
          <a:solidFill>
            <a:srgbClr val="EEF0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/>
          <p:nvPr/>
        </p:nvSpPr>
        <p:spPr>
          <a:xfrm>
            <a:off x="6429375" y="1190625"/>
            <a:ext cx="57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4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9"/>
          <p:cNvSpPr/>
          <p:nvPr/>
        </p:nvSpPr>
        <p:spPr>
          <a:xfrm>
            <a:off x="6429375" y="1656139"/>
            <a:ext cx="5000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identify food ingredients from images using vision LLMs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571500" y="2809875"/>
            <a:ext cx="5381700" cy="1571700"/>
          </a:xfrm>
          <a:prstGeom prst="rect">
            <a:avLst/>
          </a:prstGeom>
          <a:solidFill>
            <a:srgbClr val="EEF0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9"/>
          <p:cNvSpPr/>
          <p:nvPr/>
        </p:nvSpPr>
        <p:spPr>
          <a:xfrm>
            <a:off x="762000" y="2952750"/>
            <a:ext cx="57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4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9"/>
          <p:cNvSpPr/>
          <p:nvPr/>
        </p:nvSpPr>
        <p:spPr>
          <a:xfrm>
            <a:off x="762000" y="3338980"/>
            <a:ext cx="5000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estimate and validate nutritional macros using LLM + USDA database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9"/>
          <p:cNvSpPr/>
          <p:nvPr/>
        </p:nvSpPr>
        <p:spPr>
          <a:xfrm>
            <a:off x="6238875" y="2809875"/>
            <a:ext cx="5381700" cy="1571700"/>
          </a:xfrm>
          <a:prstGeom prst="rect">
            <a:avLst/>
          </a:prstGeom>
          <a:solidFill>
            <a:srgbClr val="EEF0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9"/>
          <p:cNvSpPr/>
          <p:nvPr/>
        </p:nvSpPr>
        <p:spPr>
          <a:xfrm>
            <a:off x="6429375" y="2952750"/>
            <a:ext cx="57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4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9"/>
          <p:cNvSpPr/>
          <p:nvPr/>
        </p:nvSpPr>
        <p:spPr>
          <a:xfrm>
            <a:off x="6429375" y="3325767"/>
            <a:ext cx="5000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generate personalized 7-day meal plans using semantic recipe search (Qdrant).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/>
          <p:nvPr/>
        </p:nvSpPr>
        <p:spPr>
          <a:xfrm>
            <a:off x="571500" y="4572000"/>
            <a:ext cx="5381700" cy="1571700"/>
          </a:xfrm>
          <a:prstGeom prst="rect">
            <a:avLst/>
          </a:prstGeom>
          <a:solidFill>
            <a:srgbClr val="EEF0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/>
          <p:nvPr/>
        </p:nvSpPr>
        <p:spPr>
          <a:xfrm>
            <a:off x="762000" y="4714875"/>
            <a:ext cx="57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4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762000" y="5121053"/>
            <a:ext cx="50007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 a conversational AI interface for meal planning interactions.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9"/>
          <p:cNvSpPr/>
          <p:nvPr/>
        </p:nvSpPr>
        <p:spPr>
          <a:xfrm>
            <a:off x="6238875" y="4572000"/>
            <a:ext cx="5381700" cy="1571700"/>
          </a:xfrm>
          <a:prstGeom prst="rect">
            <a:avLst/>
          </a:prstGeom>
          <a:solidFill>
            <a:srgbClr val="EEF0E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/>
          <p:nvPr/>
        </p:nvSpPr>
        <p:spPr>
          <a:xfrm>
            <a:off x="6429375" y="4714875"/>
            <a:ext cx="571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D4A3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9"/>
          <p:cNvSpPr/>
          <p:nvPr/>
        </p:nvSpPr>
        <p:spPr>
          <a:xfrm>
            <a:off x="6429375" y="5135613"/>
            <a:ext cx="50007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32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 and track user macro history over time via database.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9"/>
          <p:cNvSpPr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B9D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/ 17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/>
          <p:nvPr/>
        </p:nvSpPr>
        <p:spPr>
          <a:xfrm>
            <a:off x="381000" y="381000"/>
            <a:ext cx="114871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02 / Architecture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0"/>
          <p:cNvSpPr/>
          <p:nvPr/>
        </p:nvSpPr>
        <p:spPr>
          <a:xfrm>
            <a:off x="381000" y="533406"/>
            <a:ext cx="11601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Proposed System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" name="Google Shape;78;p10" title="ChatGPT Image Apr 30, 2026, 10_55_36 P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3625" y="0"/>
            <a:ext cx="9128375" cy="6870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317500" y="317500"/>
            <a:ext cx="11604625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317500" y="585977"/>
            <a:ext cx="117000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Agent Hierarchy &amp; Crew Architecture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820352" y="1428175"/>
            <a:ext cx="10923802" cy="5324475"/>
          </a:xfrm>
          <a:custGeom>
            <a:rect b="b" l="l" r="r" t="t"/>
            <a:pathLst>
              <a:path extrusionOk="0" h="5324475" w="6816725">
                <a:moveTo>
                  <a:pt x="0" y="0"/>
                </a:moveTo>
                <a:lnTo>
                  <a:pt x="6816725" y="0"/>
                </a:lnTo>
                <a:lnTo>
                  <a:pt x="6816725" y="5324475"/>
                </a:lnTo>
                <a:lnTo>
                  <a:pt x="0" y="53244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1015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1"/>
          <p:cNvSpPr/>
          <p:nvPr/>
        </p:nvSpPr>
        <p:spPr>
          <a:xfrm>
            <a:off x="823525" y="1254325"/>
            <a:ext cx="10930652" cy="653653"/>
          </a:xfrm>
          <a:custGeom>
            <a:rect b="b" l="l" r="r" t="t"/>
            <a:pathLst>
              <a:path extrusionOk="0" h="476250" w="6810375">
                <a:moveTo>
                  <a:pt x="0" y="0"/>
                </a:moveTo>
                <a:lnTo>
                  <a:pt x="6810375" y="0"/>
                </a:lnTo>
                <a:lnTo>
                  <a:pt x="681037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solidFill>
            <a:srgbClr val="1D1D1D"/>
          </a:solidFill>
          <a:ln>
            <a:noFill/>
          </a:ln>
        </p:spPr>
      </p:sp>
      <p:sp>
        <p:nvSpPr>
          <p:cNvPr id="88" name="Google Shape;88;p11"/>
          <p:cNvSpPr/>
          <p:nvPr/>
        </p:nvSpPr>
        <p:spPr>
          <a:xfrm>
            <a:off x="950522" y="1480285"/>
            <a:ext cx="66279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2000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Agent Roles &amp; Responsibilities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" name="Google Shape;89;p11"/>
          <p:cNvGraphicFramePr/>
          <p:nvPr/>
        </p:nvGraphicFramePr>
        <p:xfrm>
          <a:off x="950522" y="2034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{EE9A17C2-595F-473B-B248-0411605573A8}</a:tableStyleId>
              </a:tblPr>
              <a:tblGrid>
                <a:gridCol w="2743525"/>
                <a:gridCol w="3983725"/>
                <a:gridCol w="3607925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Agent</a:t>
                      </a:r>
                      <a:endParaRPr sz="16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3500" marB="6350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Role</a:t>
                      </a:r>
                      <a:endParaRPr sz="16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3500" marB="6350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Primary Tools</a:t>
                      </a:r>
                      <a:endParaRPr sz="16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3500" marB="6350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Orchestrator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71E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Coordinates tasks &amp; aggregates outputs</a:t>
                      </a:r>
                      <a:endParaRPr b="1" sz="1400" u="none" cap="none" strike="noStrike">
                        <a:solidFill>
                          <a:srgbClr val="0071E3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8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           </a:t>
                      </a:r>
                      <a:r>
                        <a:rPr lang="en-US" sz="20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</a:t>
                      </a:r>
                      <a:endParaRPr sz="20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Ingredient Agent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71E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Detects ingredients from images</a:t>
                      </a:r>
                      <a:endParaRPr b="1" sz="1400" u="none" cap="none" strike="noStrike">
                        <a:solidFill>
                          <a:srgbClr val="0071E3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identify_ingredients</a:t>
                      </a:r>
                      <a:endParaRPr sz="15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Macro Agent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71E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Estimates nutrition from images</a:t>
                      </a:r>
                      <a:endParaRPr b="1" sz="1400" u="none" cap="none" strike="noStrike">
                        <a:solidFill>
                          <a:srgbClr val="0071E3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get_macros</a:t>
                      </a:r>
                      <a:endParaRPr sz="15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USDA Agent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71E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Retrieves verified nutrition data</a:t>
                      </a:r>
                      <a:endParaRPr b="1" sz="1400" u="none" cap="none" strike="noStrike">
                        <a:solidFill>
                          <a:srgbClr val="0071E3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lookup_usda</a:t>
                      </a:r>
                      <a:endParaRPr sz="15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Validation Agent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71E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Resolves discrepancies between sources</a:t>
                      </a:r>
                      <a:endParaRPr b="1" sz="1400" u="none" cap="none" strike="noStrike">
                        <a:solidFill>
                          <a:srgbClr val="0071E3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compare_macros</a:t>
                      </a:r>
                      <a:endParaRPr sz="15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t/>
                      </a:r>
                      <a:endParaRPr sz="8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Meal Planning Agent</a:t>
                      </a:r>
                      <a:endParaRPr sz="14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0071E3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Generates personalized meal plans</a:t>
                      </a:r>
                      <a:endParaRPr b="1" sz="1400" u="none" cap="none" strike="noStrike">
                        <a:solidFill>
                          <a:srgbClr val="0071E3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search_recipes</a:t>
                      </a:r>
                      <a:r>
                        <a:rPr lang="en-US" sz="15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, </a:t>
                      </a:r>
                      <a:r>
                        <a:rPr lang="en-US" sz="15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enrich</a:t>
                      </a:r>
                      <a:r>
                        <a:rPr lang="en-US" sz="1500" u="none" cap="none" strike="noStrike"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, </a:t>
                      </a:r>
                      <a:r>
                        <a:rPr lang="en-US" sz="15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generate</a:t>
                      </a:r>
                      <a:endParaRPr sz="15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95250" marB="95250" marR="95250" marL="95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/>
          <p:nvPr/>
        </p:nvSpPr>
        <p:spPr>
          <a:xfrm>
            <a:off x="381000" y="124918"/>
            <a:ext cx="114300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Liter"/>
                <a:ea typeface="Liter"/>
                <a:cs typeface="Liter"/>
                <a:sym typeface="Liter"/>
              </a:rPr>
              <a:t>Algorithms and Models Used</a:t>
            </a:r>
            <a:endParaRPr b="1" i="0" sz="3000" u="none" cap="none" strike="noStrike">
              <a:solidFill>
                <a:schemeClr val="dk1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graphicFrame>
        <p:nvGraphicFramePr>
          <p:cNvPr id="96" name="Google Shape;96;p12"/>
          <p:cNvGraphicFramePr/>
          <p:nvPr/>
        </p:nvGraphicFramePr>
        <p:xfrm>
          <a:off x="381000" y="83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{EE9A17C2-595F-473B-B248-0411605573A8}</a:tableStyleId>
              </a:tblPr>
              <a:tblGrid>
                <a:gridCol w="3300400"/>
                <a:gridCol w="1870225"/>
                <a:gridCol w="3300400"/>
                <a:gridCol w="2530300"/>
              </a:tblGrid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b="1" lang="en-US" sz="1900" u="none" cap="none" strike="noStrike">
                          <a:solidFill>
                            <a:srgbClr val="FFFFFF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Algorithm / Model</a:t>
                      </a:r>
                      <a:endParaRPr sz="19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Type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Purpose in System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Reason for Selection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4332"/>
                    </a:solidFill>
                  </a:tcPr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Vision-Language Model (SambaNova LLaMA)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Multimodal AI</a:t>
                      </a:r>
                      <a:endParaRPr sz="1600" u="none" cap="none" strike="noStrike">
                        <a:solidFill>
                          <a:schemeClr val="dk1"/>
                        </a:solidFill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Detect ingredients and estimate macros from food images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Handles image + text effectively with high accuracy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Sentence Transformer (MiniLM)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Embedding Model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Convert recipes into vector representations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Fast and efficient semantic similarity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Qdrant Vector Search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ANN Search Algorithm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Retrieve similar recipes based on embeddings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Scalable and high-speed similarity search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USDA Database (SQLite FTS)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Rule-Based Retrieval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Fetch verified nutrition data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Provides authoritative ground truth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Mistral LLM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Large Language Model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Validate macros and generate meal plans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Strong reasoning and structured output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E8"/>
                    </a:solidFill>
                  </a:tcPr>
                </a:tc>
              </a:tr>
              <a:tr h="830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CrewAI Framework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Multi-Agent System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Orchestrates task delegation between agents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2D3436"/>
                          </a:solidFill>
                          <a:latin typeface="Liter"/>
                          <a:ea typeface="Liter"/>
                          <a:cs typeface="Liter"/>
                          <a:sym typeface="Liter"/>
                        </a:rPr>
                        <a:t>Modular, scalable, and efficient workflow management</a:t>
                      </a:r>
                      <a:endParaRPr sz="1600" u="none" cap="none" strike="noStrike">
                        <a:latin typeface="Liter"/>
                        <a:ea typeface="Liter"/>
                        <a:cs typeface="Liter"/>
                        <a:sym typeface="Liter"/>
                      </a:endParaRPr>
                    </a:p>
                  </a:txBody>
                  <a:tcPr marT="0" marB="0" marR="68600" marL="68600" anchor="ctr">
                    <a:lnL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CFC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DE8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" name="Google Shape;102;p13"/>
          <p:cNvCxnSpPr/>
          <p:nvPr/>
        </p:nvCxnSpPr>
        <p:spPr>
          <a:xfrm>
            <a:off x="0" y="0"/>
            <a:ext cx="12192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13"/>
          <p:cNvSpPr/>
          <p:nvPr/>
        </p:nvSpPr>
        <p:spPr>
          <a:xfrm>
            <a:off x="762000" y="190500"/>
            <a:ext cx="85725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 Architecture &amp; Processing Pipeline</a:t>
            </a:r>
            <a:endParaRPr b="0" i="0" sz="21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4" name="Google Shape;104;p13"/>
          <p:cNvCxnSpPr/>
          <p:nvPr/>
        </p:nvCxnSpPr>
        <p:spPr>
          <a:xfrm>
            <a:off x="762000" y="571500"/>
            <a:ext cx="10668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3"/>
          <p:cNvSpPr/>
          <p:nvPr/>
        </p:nvSpPr>
        <p:spPr>
          <a:xfrm>
            <a:off x="2666925" y="619125"/>
            <a:ext cx="3333900" cy="581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3"/>
          <p:cNvSpPr/>
          <p:nvPr/>
        </p:nvSpPr>
        <p:spPr>
          <a:xfrm>
            <a:off x="2857425" y="809625"/>
            <a:ext cx="295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DATASETS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07" name="Google Shape;107;p13"/>
          <p:cNvCxnSpPr/>
          <p:nvPr/>
        </p:nvCxnSpPr>
        <p:spPr>
          <a:xfrm>
            <a:off x="2857425" y="1095375"/>
            <a:ext cx="29529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13"/>
          <p:cNvSpPr/>
          <p:nvPr/>
        </p:nvSpPr>
        <p:spPr>
          <a:xfrm>
            <a:off x="2738500" y="1225036"/>
            <a:ext cx="295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USDA SR Legacy</a:t>
            </a:r>
            <a:endParaRPr b="0" i="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2762325" y="1504950"/>
            <a:ext cx="3238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Source: FoodData Central (2018)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7,793 food items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150+ nutritional attributes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Used: calories, protein, fat, carbohydrates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Standardized per 100g values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2857425" y="3143250"/>
            <a:ext cx="295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RecipeNLG</a:t>
            </a:r>
            <a:endParaRPr b="0" i="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2857425" y="3409950"/>
            <a:ext cx="2952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Total: 2.2 Million recipes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Used subset: 1 Million recipes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Fields: title, ingredients, instructions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6191175" y="666750"/>
            <a:ext cx="3333900" cy="5810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3"/>
          <p:cNvSpPr/>
          <p:nvPr/>
        </p:nvSpPr>
        <p:spPr>
          <a:xfrm>
            <a:off x="6381675" y="809625"/>
            <a:ext cx="29529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PROCESSING</a:t>
            </a:r>
            <a:endParaRPr b="0" i="0" sz="1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cxnSp>
        <p:nvCxnSpPr>
          <p:cNvPr id="114" name="Google Shape;114;p13"/>
          <p:cNvCxnSpPr/>
          <p:nvPr/>
        </p:nvCxnSpPr>
        <p:spPr>
          <a:xfrm>
            <a:off x="6381675" y="1095375"/>
            <a:ext cx="2952900" cy="0"/>
          </a:xfrm>
          <a:prstGeom prst="straightConnector1">
            <a:avLst/>
          </a:prstGeom>
          <a:noFill/>
          <a:ln cap="flat" cmpd="sng" w="12700">
            <a:solidFill>
              <a:srgbClr val="CFD8D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13"/>
          <p:cNvSpPr/>
          <p:nvPr/>
        </p:nvSpPr>
        <p:spPr>
          <a:xfrm>
            <a:off x="6381675" y="1238250"/>
            <a:ext cx="295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USDA Processing</a:t>
            </a:r>
            <a:endParaRPr b="0" i="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6381675" y="1504950"/>
            <a:ext cx="2952900" cy="18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CSV to SQLite conversion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Filtering valid food entries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Normalization to per 100g values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FTS5 indexing for fast text search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Two-step search: exact match + token fallback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6381675" y="3376145"/>
            <a:ext cx="2952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Recipe Processing</a:t>
            </a:r>
            <a:endParaRPr b="0" i="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381675" y="3867480"/>
            <a:ext cx="3143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Removal of duplicates and noisy entries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Ingredient normalization and cleaning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Conversion to embeddings (all-MiniLM-L6-v2)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u="none" cap="none" strike="noStrike">
                <a:solidFill>
                  <a:srgbClr val="37474F"/>
                </a:solidFill>
                <a:latin typeface="Liter"/>
                <a:ea typeface="Liter"/>
                <a:cs typeface="Liter"/>
                <a:sym typeface="Liter"/>
              </a:rPr>
              <a:t>Storage in Qdrant vector database</a:t>
            </a:r>
            <a:endParaRPr i="0" u="none" cap="none" strike="noStrike">
              <a:solidFill>
                <a:srgbClr val="000000"/>
              </a:solidFill>
              <a:latin typeface="Liter"/>
              <a:ea typeface="Liter"/>
              <a:cs typeface="Liter"/>
              <a:sym typeface="Liter"/>
            </a:endParaRPr>
          </a:p>
        </p:txBody>
      </p:sp>
      <p:cxnSp>
        <p:nvCxnSpPr>
          <p:cNvPr id="119" name="Google Shape;119;p13"/>
          <p:cNvCxnSpPr/>
          <p:nvPr/>
        </p:nvCxnSpPr>
        <p:spPr>
          <a:xfrm>
            <a:off x="0" y="6819900"/>
            <a:ext cx="12192000" cy="0"/>
          </a:xfrm>
          <a:prstGeom prst="straightConnector1">
            <a:avLst/>
          </a:prstGeom>
          <a:noFill/>
          <a:ln cap="flat" cmpd="sng" w="5080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/>
        </p:nvSpPr>
        <p:spPr>
          <a:xfrm>
            <a:off x="354419" y="354419"/>
            <a:ext cx="115362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Arial"/>
              <a:buNone/>
            </a:pPr>
            <a:r>
              <a:rPr b="1" i="0" lang="en-US" sz="837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 Demonstration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354419" y="566962"/>
            <a:ext cx="116427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12"/>
              <a:buFont typeface="Arial"/>
              <a:buNone/>
            </a:pPr>
            <a:r>
              <a:rPr b="1" i="0" lang="en-US" sz="2512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System Interface &amp; Features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354419" y="992264"/>
            <a:ext cx="11553900" cy="2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16"/>
              <a:buFont typeface="Arial"/>
              <a:buNone/>
            </a:pPr>
            <a:r>
              <a:rPr b="0" i="0" lang="en-US" sz="1116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AI Chef Mate mobile application screenshots and workflow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487769" y="1495537"/>
            <a:ext cx="93035" cy="106326"/>
          </a:xfrm>
          <a:custGeom>
            <a:rect b="b" l="l" r="r" t="t"/>
            <a:pathLst>
              <a:path extrusionOk="0" h="106326" w="93035">
                <a:moveTo>
                  <a:pt x="53163" y="22698"/>
                </a:moveTo>
                <a:lnTo>
                  <a:pt x="53163" y="66453"/>
                </a:lnTo>
                <a:cubicBezTo>
                  <a:pt x="53163" y="70129"/>
                  <a:pt x="50193" y="73099"/>
                  <a:pt x="46517" y="73099"/>
                </a:cubicBezTo>
                <a:cubicBezTo>
                  <a:pt x="42842" y="73099"/>
                  <a:pt x="39872" y="70129"/>
                  <a:pt x="39872" y="66453"/>
                </a:cubicBezTo>
                <a:lnTo>
                  <a:pt x="39872" y="22698"/>
                </a:lnTo>
                <a:lnTo>
                  <a:pt x="31275" y="31295"/>
                </a:lnTo>
                <a:cubicBezTo>
                  <a:pt x="28679" y="33891"/>
                  <a:pt x="24463" y="33891"/>
                  <a:pt x="21867" y="31295"/>
                </a:cubicBezTo>
                <a:cubicBezTo>
                  <a:pt x="19272" y="28700"/>
                  <a:pt x="19272" y="24484"/>
                  <a:pt x="21867" y="21888"/>
                </a:cubicBezTo>
                <a:lnTo>
                  <a:pt x="41803" y="1952"/>
                </a:lnTo>
                <a:cubicBezTo>
                  <a:pt x="44399" y="-644"/>
                  <a:pt x="48615" y="-644"/>
                  <a:pt x="51211" y="1952"/>
                </a:cubicBezTo>
                <a:lnTo>
                  <a:pt x="71147" y="21888"/>
                </a:lnTo>
                <a:cubicBezTo>
                  <a:pt x="73743" y="24484"/>
                  <a:pt x="73743" y="28700"/>
                  <a:pt x="71147" y="31295"/>
                </a:cubicBezTo>
                <a:cubicBezTo>
                  <a:pt x="68551" y="33891"/>
                  <a:pt x="64335" y="33891"/>
                  <a:pt x="61739" y="31295"/>
                </a:cubicBezTo>
                <a:lnTo>
                  <a:pt x="53163" y="22698"/>
                </a:lnTo>
                <a:close/>
                <a:moveTo>
                  <a:pt x="46517" y="83067"/>
                </a:moveTo>
                <a:cubicBezTo>
                  <a:pt x="55696" y="83067"/>
                  <a:pt x="63131" y="75632"/>
                  <a:pt x="63131" y="66453"/>
                </a:cubicBezTo>
                <a:lnTo>
                  <a:pt x="79744" y="66453"/>
                </a:lnTo>
                <a:cubicBezTo>
                  <a:pt x="87075" y="66453"/>
                  <a:pt x="93035" y="72414"/>
                  <a:pt x="93035" y="79744"/>
                </a:cubicBezTo>
                <a:lnTo>
                  <a:pt x="93035" y="86390"/>
                </a:lnTo>
                <a:cubicBezTo>
                  <a:pt x="93035" y="93720"/>
                  <a:pt x="87075" y="99680"/>
                  <a:pt x="79744" y="99680"/>
                </a:cubicBezTo>
                <a:lnTo>
                  <a:pt x="13291" y="99680"/>
                </a:lnTo>
                <a:cubicBezTo>
                  <a:pt x="5960" y="99680"/>
                  <a:pt x="0" y="93720"/>
                  <a:pt x="0" y="86390"/>
                </a:cubicBezTo>
                <a:lnTo>
                  <a:pt x="0" y="79744"/>
                </a:lnTo>
                <a:cubicBezTo>
                  <a:pt x="0" y="72414"/>
                  <a:pt x="5960" y="66453"/>
                  <a:pt x="13291" y="66453"/>
                </a:cubicBezTo>
                <a:lnTo>
                  <a:pt x="29904" y="66453"/>
                </a:lnTo>
                <a:cubicBezTo>
                  <a:pt x="29904" y="75632"/>
                  <a:pt x="37339" y="83067"/>
                  <a:pt x="46517" y="83067"/>
                </a:cubicBezTo>
                <a:close/>
                <a:moveTo>
                  <a:pt x="76422" y="88051"/>
                </a:moveTo>
                <a:cubicBezTo>
                  <a:pt x="79172" y="88051"/>
                  <a:pt x="81406" y="85818"/>
                  <a:pt x="81406" y="83067"/>
                </a:cubicBezTo>
                <a:cubicBezTo>
                  <a:pt x="81406" y="80316"/>
                  <a:pt x="79172" y="78083"/>
                  <a:pt x="76422" y="78083"/>
                </a:cubicBezTo>
                <a:cubicBezTo>
                  <a:pt x="73671" y="78083"/>
                  <a:pt x="71438" y="80316"/>
                  <a:pt x="71438" y="83067"/>
                </a:cubicBezTo>
                <a:cubicBezTo>
                  <a:pt x="71438" y="85818"/>
                  <a:pt x="73671" y="88051"/>
                  <a:pt x="76422" y="8805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474478" y="4052668"/>
            <a:ext cx="119616" cy="106326"/>
          </a:xfrm>
          <a:custGeom>
            <a:rect b="b" l="l" r="r" t="t"/>
            <a:pathLst>
              <a:path extrusionOk="0" h="106326" w="119616">
                <a:moveTo>
                  <a:pt x="59808" y="6645"/>
                </a:moveTo>
                <a:cubicBezTo>
                  <a:pt x="43029" y="6645"/>
                  <a:pt x="29593" y="14288"/>
                  <a:pt x="19811" y="23383"/>
                </a:cubicBezTo>
                <a:cubicBezTo>
                  <a:pt x="10093" y="32417"/>
                  <a:pt x="3593" y="43195"/>
                  <a:pt x="498" y="50608"/>
                </a:cubicBezTo>
                <a:cubicBezTo>
                  <a:pt x="-187" y="52249"/>
                  <a:pt x="-187" y="54077"/>
                  <a:pt x="498" y="55717"/>
                </a:cubicBezTo>
                <a:cubicBezTo>
                  <a:pt x="3593" y="63131"/>
                  <a:pt x="10093" y="73930"/>
                  <a:pt x="19811" y="82942"/>
                </a:cubicBezTo>
                <a:cubicBezTo>
                  <a:pt x="29593" y="92017"/>
                  <a:pt x="43029" y="99680"/>
                  <a:pt x="59808" y="99680"/>
                </a:cubicBezTo>
                <a:cubicBezTo>
                  <a:pt x="76588" y="99680"/>
                  <a:pt x="90024" y="92038"/>
                  <a:pt x="99805" y="82942"/>
                </a:cubicBezTo>
                <a:cubicBezTo>
                  <a:pt x="109524" y="73909"/>
                  <a:pt x="116024" y="63131"/>
                  <a:pt x="119118" y="55717"/>
                </a:cubicBezTo>
                <a:cubicBezTo>
                  <a:pt x="119803" y="54077"/>
                  <a:pt x="119803" y="52249"/>
                  <a:pt x="119118" y="50608"/>
                </a:cubicBezTo>
                <a:cubicBezTo>
                  <a:pt x="116024" y="43195"/>
                  <a:pt x="109524" y="32396"/>
                  <a:pt x="99805" y="23383"/>
                </a:cubicBezTo>
                <a:cubicBezTo>
                  <a:pt x="90024" y="14308"/>
                  <a:pt x="76588" y="6645"/>
                  <a:pt x="59808" y="6645"/>
                </a:cubicBezTo>
                <a:close/>
                <a:moveTo>
                  <a:pt x="29904" y="53163"/>
                </a:moveTo>
                <a:cubicBezTo>
                  <a:pt x="29904" y="36658"/>
                  <a:pt x="43304" y="23259"/>
                  <a:pt x="59808" y="23259"/>
                </a:cubicBezTo>
                <a:cubicBezTo>
                  <a:pt x="76313" y="23259"/>
                  <a:pt x="89712" y="36658"/>
                  <a:pt x="89712" y="53163"/>
                </a:cubicBezTo>
                <a:cubicBezTo>
                  <a:pt x="89712" y="69667"/>
                  <a:pt x="76313" y="83067"/>
                  <a:pt x="59808" y="83067"/>
                </a:cubicBezTo>
                <a:cubicBezTo>
                  <a:pt x="43304" y="83067"/>
                  <a:pt x="29904" y="69667"/>
                  <a:pt x="29904" y="53163"/>
                </a:cubicBezTo>
                <a:close/>
                <a:moveTo>
                  <a:pt x="59808" y="39872"/>
                </a:moveTo>
                <a:cubicBezTo>
                  <a:pt x="59808" y="47203"/>
                  <a:pt x="53848" y="53163"/>
                  <a:pt x="46517" y="53163"/>
                </a:cubicBezTo>
                <a:cubicBezTo>
                  <a:pt x="44129" y="53163"/>
                  <a:pt x="41886" y="52540"/>
                  <a:pt x="39934" y="51418"/>
                </a:cubicBezTo>
                <a:cubicBezTo>
                  <a:pt x="39727" y="53682"/>
                  <a:pt x="39914" y="56008"/>
                  <a:pt x="40537" y="58313"/>
                </a:cubicBezTo>
                <a:cubicBezTo>
                  <a:pt x="43382" y="68945"/>
                  <a:pt x="54326" y="75259"/>
                  <a:pt x="64958" y="72414"/>
                </a:cubicBezTo>
                <a:cubicBezTo>
                  <a:pt x="75591" y="69568"/>
                  <a:pt x="81904" y="58624"/>
                  <a:pt x="79059" y="47992"/>
                </a:cubicBezTo>
                <a:cubicBezTo>
                  <a:pt x="76525" y="38501"/>
                  <a:pt x="67533" y="32458"/>
                  <a:pt x="58064" y="33289"/>
                </a:cubicBezTo>
                <a:cubicBezTo>
                  <a:pt x="59164" y="35220"/>
                  <a:pt x="59808" y="37463"/>
                  <a:pt x="59808" y="39872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4356026" y="1495537"/>
            <a:ext cx="106326" cy="106326"/>
          </a:xfrm>
          <a:custGeom>
            <a:rect b="b" l="l" r="r" t="t"/>
            <a:pathLst>
              <a:path extrusionOk="0" h="106326" w="106326">
                <a:moveTo>
                  <a:pt x="13291" y="13291"/>
                </a:moveTo>
                <a:cubicBezTo>
                  <a:pt x="5960" y="13291"/>
                  <a:pt x="0" y="19251"/>
                  <a:pt x="0" y="26581"/>
                </a:cubicBezTo>
                <a:lnTo>
                  <a:pt x="0" y="79744"/>
                </a:lnTo>
                <a:cubicBezTo>
                  <a:pt x="0" y="87075"/>
                  <a:pt x="5960" y="93035"/>
                  <a:pt x="13291" y="93035"/>
                </a:cubicBezTo>
                <a:lnTo>
                  <a:pt x="93035" y="93035"/>
                </a:lnTo>
                <a:cubicBezTo>
                  <a:pt x="100366" y="93035"/>
                  <a:pt x="106326" y="87075"/>
                  <a:pt x="106326" y="79744"/>
                </a:cubicBezTo>
                <a:lnTo>
                  <a:pt x="106326" y="26581"/>
                </a:lnTo>
                <a:cubicBezTo>
                  <a:pt x="106326" y="19251"/>
                  <a:pt x="100366" y="13291"/>
                  <a:pt x="93035" y="13291"/>
                </a:cubicBezTo>
                <a:lnTo>
                  <a:pt x="13291" y="13291"/>
                </a:lnTo>
                <a:close/>
                <a:moveTo>
                  <a:pt x="33227" y="66453"/>
                </a:moveTo>
                <a:cubicBezTo>
                  <a:pt x="33227" y="70121"/>
                  <a:pt x="30249" y="73099"/>
                  <a:pt x="26581" y="73099"/>
                </a:cubicBezTo>
                <a:cubicBezTo>
                  <a:pt x="22914" y="73099"/>
                  <a:pt x="19936" y="70121"/>
                  <a:pt x="19936" y="66453"/>
                </a:cubicBezTo>
                <a:cubicBezTo>
                  <a:pt x="19936" y="62786"/>
                  <a:pt x="22914" y="59808"/>
                  <a:pt x="26581" y="59808"/>
                </a:cubicBezTo>
                <a:cubicBezTo>
                  <a:pt x="30249" y="59808"/>
                  <a:pt x="33227" y="62786"/>
                  <a:pt x="33227" y="66453"/>
                </a:cubicBezTo>
                <a:close/>
                <a:moveTo>
                  <a:pt x="26581" y="46517"/>
                </a:moveTo>
                <a:cubicBezTo>
                  <a:pt x="22914" y="46517"/>
                  <a:pt x="19936" y="43540"/>
                  <a:pt x="19936" y="39872"/>
                </a:cubicBezTo>
                <a:cubicBezTo>
                  <a:pt x="19936" y="36204"/>
                  <a:pt x="22914" y="33227"/>
                  <a:pt x="26581" y="33227"/>
                </a:cubicBezTo>
                <a:cubicBezTo>
                  <a:pt x="30249" y="33227"/>
                  <a:pt x="33227" y="36204"/>
                  <a:pt x="33227" y="39872"/>
                </a:cubicBezTo>
                <a:cubicBezTo>
                  <a:pt x="33227" y="43540"/>
                  <a:pt x="30249" y="46517"/>
                  <a:pt x="26581" y="46517"/>
                </a:cubicBezTo>
                <a:close/>
                <a:moveTo>
                  <a:pt x="51501" y="34888"/>
                </a:moveTo>
                <a:lnTo>
                  <a:pt x="81406" y="34888"/>
                </a:lnTo>
                <a:cubicBezTo>
                  <a:pt x="84167" y="34888"/>
                  <a:pt x="86390" y="37110"/>
                  <a:pt x="86390" y="39872"/>
                </a:cubicBezTo>
                <a:cubicBezTo>
                  <a:pt x="86390" y="42634"/>
                  <a:pt x="84167" y="44856"/>
                  <a:pt x="81406" y="44856"/>
                </a:cubicBezTo>
                <a:lnTo>
                  <a:pt x="51501" y="44856"/>
                </a:lnTo>
                <a:cubicBezTo>
                  <a:pt x="48739" y="44856"/>
                  <a:pt x="46517" y="42634"/>
                  <a:pt x="46517" y="39872"/>
                </a:cubicBezTo>
                <a:cubicBezTo>
                  <a:pt x="46517" y="37110"/>
                  <a:pt x="48739" y="34888"/>
                  <a:pt x="51501" y="34888"/>
                </a:cubicBezTo>
                <a:close/>
                <a:moveTo>
                  <a:pt x="51501" y="61469"/>
                </a:moveTo>
                <a:lnTo>
                  <a:pt x="81406" y="61469"/>
                </a:lnTo>
                <a:cubicBezTo>
                  <a:pt x="84167" y="61469"/>
                  <a:pt x="86390" y="63692"/>
                  <a:pt x="86390" y="66453"/>
                </a:cubicBezTo>
                <a:cubicBezTo>
                  <a:pt x="86390" y="69215"/>
                  <a:pt x="84167" y="71438"/>
                  <a:pt x="81406" y="71438"/>
                </a:cubicBezTo>
                <a:lnTo>
                  <a:pt x="51501" y="71438"/>
                </a:lnTo>
                <a:cubicBezTo>
                  <a:pt x="48739" y="71438"/>
                  <a:pt x="46517" y="69215"/>
                  <a:pt x="46517" y="66453"/>
                </a:cubicBezTo>
                <a:cubicBezTo>
                  <a:pt x="46517" y="63692"/>
                  <a:pt x="48739" y="61469"/>
                  <a:pt x="51501" y="61469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4349381" y="4052668"/>
            <a:ext cx="119616" cy="106326"/>
          </a:xfrm>
          <a:custGeom>
            <a:rect b="b" l="l" r="r" t="t"/>
            <a:pathLst>
              <a:path extrusionOk="0" h="106326" w="119616">
                <a:moveTo>
                  <a:pt x="106409" y="49840"/>
                </a:moveTo>
                <a:lnTo>
                  <a:pt x="69859" y="49840"/>
                </a:lnTo>
                <a:cubicBezTo>
                  <a:pt x="66184" y="49840"/>
                  <a:pt x="63214" y="46870"/>
                  <a:pt x="63214" y="43195"/>
                </a:cubicBezTo>
                <a:lnTo>
                  <a:pt x="63214" y="6645"/>
                </a:lnTo>
                <a:cubicBezTo>
                  <a:pt x="63214" y="2970"/>
                  <a:pt x="66204" y="-42"/>
                  <a:pt x="69838" y="436"/>
                </a:cubicBezTo>
                <a:cubicBezTo>
                  <a:pt x="92059" y="3385"/>
                  <a:pt x="109669" y="20995"/>
                  <a:pt x="112618" y="43216"/>
                </a:cubicBezTo>
                <a:cubicBezTo>
                  <a:pt x="113096" y="46850"/>
                  <a:pt x="110084" y="49840"/>
                  <a:pt x="106409" y="49840"/>
                </a:cubicBezTo>
                <a:close/>
                <a:moveTo>
                  <a:pt x="46227" y="7725"/>
                </a:moveTo>
                <a:cubicBezTo>
                  <a:pt x="49985" y="6936"/>
                  <a:pt x="53246" y="10010"/>
                  <a:pt x="53246" y="13851"/>
                </a:cubicBezTo>
                <a:lnTo>
                  <a:pt x="53246" y="54824"/>
                </a:lnTo>
                <a:cubicBezTo>
                  <a:pt x="53246" y="55987"/>
                  <a:pt x="53661" y="57108"/>
                  <a:pt x="54388" y="58001"/>
                </a:cubicBezTo>
                <a:lnTo>
                  <a:pt x="81821" y="91104"/>
                </a:lnTo>
                <a:cubicBezTo>
                  <a:pt x="84251" y="94032"/>
                  <a:pt x="83731" y="98455"/>
                  <a:pt x="80388" y="100262"/>
                </a:cubicBezTo>
                <a:cubicBezTo>
                  <a:pt x="73307" y="104124"/>
                  <a:pt x="65187" y="106326"/>
                  <a:pt x="56569" y="106326"/>
                </a:cubicBezTo>
                <a:cubicBezTo>
                  <a:pt x="29053" y="106326"/>
                  <a:pt x="6728" y="84001"/>
                  <a:pt x="6728" y="56485"/>
                </a:cubicBezTo>
                <a:cubicBezTo>
                  <a:pt x="6728" y="32500"/>
                  <a:pt x="23653" y="12481"/>
                  <a:pt x="46227" y="7725"/>
                </a:cubicBezTo>
                <a:close/>
                <a:moveTo>
                  <a:pt x="99223" y="59808"/>
                </a:moveTo>
                <a:lnTo>
                  <a:pt x="112514" y="59808"/>
                </a:lnTo>
                <a:cubicBezTo>
                  <a:pt x="116356" y="59808"/>
                  <a:pt x="119429" y="63069"/>
                  <a:pt x="118640" y="66827"/>
                </a:cubicBezTo>
                <a:cubicBezTo>
                  <a:pt x="116522" y="76878"/>
                  <a:pt x="111372" y="85808"/>
                  <a:pt x="104187" y="92620"/>
                </a:cubicBezTo>
                <a:cubicBezTo>
                  <a:pt x="101632" y="95049"/>
                  <a:pt x="97624" y="94530"/>
                  <a:pt x="95382" y="91810"/>
                </a:cubicBezTo>
                <a:lnTo>
                  <a:pt x="77854" y="70690"/>
                </a:lnTo>
                <a:cubicBezTo>
                  <a:pt x="74262" y="66350"/>
                  <a:pt x="77356" y="59808"/>
                  <a:pt x="82963" y="59808"/>
                </a:cubicBezTo>
                <a:lnTo>
                  <a:pt x="99203" y="59808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8237685" y="1495537"/>
            <a:ext cx="93035" cy="106326"/>
          </a:xfrm>
          <a:custGeom>
            <a:rect b="b" l="l" r="r" t="t"/>
            <a:pathLst>
              <a:path extrusionOk="0" h="106326" w="93035">
                <a:moveTo>
                  <a:pt x="26581" y="0"/>
                </a:moveTo>
                <a:cubicBezTo>
                  <a:pt x="30257" y="0"/>
                  <a:pt x="33227" y="2970"/>
                  <a:pt x="33227" y="6645"/>
                </a:cubicBezTo>
                <a:lnTo>
                  <a:pt x="33227" y="13291"/>
                </a:lnTo>
                <a:lnTo>
                  <a:pt x="59808" y="13291"/>
                </a:lnTo>
                <a:lnTo>
                  <a:pt x="59808" y="6645"/>
                </a:lnTo>
                <a:cubicBezTo>
                  <a:pt x="59808" y="2970"/>
                  <a:pt x="62778" y="0"/>
                  <a:pt x="66453" y="0"/>
                </a:cubicBezTo>
                <a:cubicBezTo>
                  <a:pt x="70129" y="0"/>
                  <a:pt x="73099" y="2970"/>
                  <a:pt x="73099" y="6645"/>
                </a:cubicBezTo>
                <a:lnTo>
                  <a:pt x="73099" y="13291"/>
                </a:lnTo>
                <a:lnTo>
                  <a:pt x="79744" y="13291"/>
                </a:lnTo>
                <a:cubicBezTo>
                  <a:pt x="87075" y="13291"/>
                  <a:pt x="93035" y="19251"/>
                  <a:pt x="93035" y="26581"/>
                </a:cubicBezTo>
                <a:lnTo>
                  <a:pt x="93035" y="86390"/>
                </a:lnTo>
                <a:cubicBezTo>
                  <a:pt x="93035" y="93720"/>
                  <a:pt x="87075" y="99680"/>
                  <a:pt x="79744" y="99680"/>
                </a:cubicBezTo>
                <a:lnTo>
                  <a:pt x="13291" y="99680"/>
                </a:lnTo>
                <a:cubicBezTo>
                  <a:pt x="5960" y="99680"/>
                  <a:pt x="0" y="93720"/>
                  <a:pt x="0" y="86390"/>
                </a:cubicBezTo>
                <a:lnTo>
                  <a:pt x="0" y="26581"/>
                </a:lnTo>
                <a:cubicBezTo>
                  <a:pt x="0" y="19251"/>
                  <a:pt x="5960" y="13291"/>
                  <a:pt x="13291" y="13291"/>
                </a:cubicBezTo>
                <a:lnTo>
                  <a:pt x="19936" y="13291"/>
                </a:lnTo>
                <a:lnTo>
                  <a:pt x="19936" y="6645"/>
                </a:lnTo>
                <a:cubicBezTo>
                  <a:pt x="19936" y="2970"/>
                  <a:pt x="22906" y="0"/>
                  <a:pt x="26581" y="0"/>
                </a:cubicBezTo>
                <a:close/>
                <a:moveTo>
                  <a:pt x="13291" y="49840"/>
                </a:moveTo>
                <a:lnTo>
                  <a:pt x="13291" y="56485"/>
                </a:lnTo>
                <a:cubicBezTo>
                  <a:pt x="13291" y="58313"/>
                  <a:pt x="14786" y="59808"/>
                  <a:pt x="16613" y="59808"/>
                </a:cubicBezTo>
                <a:lnTo>
                  <a:pt x="23259" y="59808"/>
                </a:lnTo>
                <a:cubicBezTo>
                  <a:pt x="25086" y="59808"/>
                  <a:pt x="26581" y="58313"/>
                  <a:pt x="26581" y="56485"/>
                </a:cubicBezTo>
                <a:lnTo>
                  <a:pt x="26581" y="49840"/>
                </a:lnTo>
                <a:cubicBezTo>
                  <a:pt x="26581" y="48013"/>
                  <a:pt x="25086" y="46517"/>
                  <a:pt x="23259" y="46517"/>
                </a:cubicBezTo>
                <a:lnTo>
                  <a:pt x="16613" y="46517"/>
                </a:lnTo>
                <a:cubicBezTo>
                  <a:pt x="14786" y="46517"/>
                  <a:pt x="13291" y="48013"/>
                  <a:pt x="13291" y="49840"/>
                </a:cubicBezTo>
                <a:close/>
                <a:moveTo>
                  <a:pt x="39872" y="49840"/>
                </a:moveTo>
                <a:lnTo>
                  <a:pt x="39872" y="56485"/>
                </a:lnTo>
                <a:cubicBezTo>
                  <a:pt x="39872" y="58313"/>
                  <a:pt x="41367" y="59808"/>
                  <a:pt x="43195" y="59808"/>
                </a:cubicBezTo>
                <a:lnTo>
                  <a:pt x="49840" y="59808"/>
                </a:lnTo>
                <a:cubicBezTo>
                  <a:pt x="51668" y="59808"/>
                  <a:pt x="53163" y="58313"/>
                  <a:pt x="53163" y="56485"/>
                </a:cubicBezTo>
                <a:lnTo>
                  <a:pt x="53163" y="49840"/>
                </a:lnTo>
                <a:cubicBezTo>
                  <a:pt x="53163" y="48013"/>
                  <a:pt x="51668" y="46517"/>
                  <a:pt x="49840" y="46517"/>
                </a:cubicBezTo>
                <a:lnTo>
                  <a:pt x="43195" y="46517"/>
                </a:lnTo>
                <a:cubicBezTo>
                  <a:pt x="41367" y="46517"/>
                  <a:pt x="39872" y="48013"/>
                  <a:pt x="39872" y="49840"/>
                </a:cubicBezTo>
                <a:close/>
                <a:moveTo>
                  <a:pt x="69776" y="46517"/>
                </a:moveTo>
                <a:cubicBezTo>
                  <a:pt x="67949" y="46517"/>
                  <a:pt x="66453" y="48013"/>
                  <a:pt x="66453" y="49840"/>
                </a:cubicBezTo>
                <a:lnTo>
                  <a:pt x="66453" y="56485"/>
                </a:lnTo>
                <a:cubicBezTo>
                  <a:pt x="66453" y="58313"/>
                  <a:pt x="67949" y="59808"/>
                  <a:pt x="69776" y="59808"/>
                </a:cubicBezTo>
                <a:lnTo>
                  <a:pt x="76422" y="59808"/>
                </a:lnTo>
                <a:cubicBezTo>
                  <a:pt x="78249" y="59808"/>
                  <a:pt x="79744" y="58313"/>
                  <a:pt x="79744" y="56485"/>
                </a:cubicBezTo>
                <a:lnTo>
                  <a:pt x="79744" y="49840"/>
                </a:lnTo>
                <a:cubicBezTo>
                  <a:pt x="79744" y="48013"/>
                  <a:pt x="78249" y="46517"/>
                  <a:pt x="76422" y="46517"/>
                </a:cubicBezTo>
                <a:lnTo>
                  <a:pt x="69776" y="46517"/>
                </a:lnTo>
                <a:close/>
                <a:moveTo>
                  <a:pt x="13291" y="76422"/>
                </a:moveTo>
                <a:lnTo>
                  <a:pt x="13291" y="83067"/>
                </a:lnTo>
                <a:cubicBezTo>
                  <a:pt x="13291" y="84894"/>
                  <a:pt x="14786" y="86390"/>
                  <a:pt x="16613" y="86390"/>
                </a:cubicBezTo>
                <a:lnTo>
                  <a:pt x="23259" y="86390"/>
                </a:lnTo>
                <a:cubicBezTo>
                  <a:pt x="25086" y="86390"/>
                  <a:pt x="26581" y="84894"/>
                  <a:pt x="26581" y="83067"/>
                </a:cubicBezTo>
                <a:lnTo>
                  <a:pt x="26581" y="76422"/>
                </a:lnTo>
                <a:cubicBezTo>
                  <a:pt x="26581" y="74594"/>
                  <a:pt x="25086" y="73099"/>
                  <a:pt x="23259" y="73099"/>
                </a:cubicBezTo>
                <a:lnTo>
                  <a:pt x="16613" y="73099"/>
                </a:lnTo>
                <a:cubicBezTo>
                  <a:pt x="14786" y="73099"/>
                  <a:pt x="13291" y="74594"/>
                  <a:pt x="13291" y="76422"/>
                </a:cubicBezTo>
                <a:close/>
                <a:moveTo>
                  <a:pt x="43195" y="73099"/>
                </a:moveTo>
                <a:cubicBezTo>
                  <a:pt x="41367" y="73099"/>
                  <a:pt x="39872" y="74594"/>
                  <a:pt x="39872" y="76422"/>
                </a:cubicBezTo>
                <a:lnTo>
                  <a:pt x="39872" y="83067"/>
                </a:lnTo>
                <a:cubicBezTo>
                  <a:pt x="39872" y="84894"/>
                  <a:pt x="41367" y="86390"/>
                  <a:pt x="43195" y="86390"/>
                </a:cubicBezTo>
                <a:lnTo>
                  <a:pt x="49840" y="86390"/>
                </a:lnTo>
                <a:cubicBezTo>
                  <a:pt x="51668" y="86390"/>
                  <a:pt x="53163" y="84894"/>
                  <a:pt x="53163" y="83067"/>
                </a:cubicBezTo>
                <a:lnTo>
                  <a:pt x="53163" y="76422"/>
                </a:lnTo>
                <a:cubicBezTo>
                  <a:pt x="53163" y="74594"/>
                  <a:pt x="51668" y="73099"/>
                  <a:pt x="49840" y="73099"/>
                </a:cubicBezTo>
                <a:lnTo>
                  <a:pt x="43195" y="73099"/>
                </a:lnTo>
                <a:close/>
                <a:moveTo>
                  <a:pt x="66453" y="76422"/>
                </a:moveTo>
                <a:lnTo>
                  <a:pt x="66453" y="83067"/>
                </a:lnTo>
                <a:cubicBezTo>
                  <a:pt x="66453" y="84894"/>
                  <a:pt x="67949" y="86390"/>
                  <a:pt x="69776" y="86390"/>
                </a:cubicBezTo>
                <a:lnTo>
                  <a:pt x="76422" y="86390"/>
                </a:lnTo>
                <a:cubicBezTo>
                  <a:pt x="78249" y="86390"/>
                  <a:pt x="79744" y="84894"/>
                  <a:pt x="79744" y="83067"/>
                </a:cubicBezTo>
                <a:lnTo>
                  <a:pt x="79744" y="76422"/>
                </a:lnTo>
                <a:cubicBezTo>
                  <a:pt x="79744" y="74594"/>
                  <a:pt x="78249" y="73099"/>
                  <a:pt x="76422" y="73099"/>
                </a:cubicBezTo>
                <a:lnTo>
                  <a:pt x="69776" y="73099"/>
                </a:lnTo>
                <a:cubicBezTo>
                  <a:pt x="67949" y="73099"/>
                  <a:pt x="66453" y="74594"/>
                  <a:pt x="66453" y="76422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8293728" y="4125321"/>
            <a:ext cx="179424" cy="159488"/>
          </a:xfrm>
          <a:custGeom>
            <a:rect b="b" l="l" r="r" t="t"/>
            <a:pathLst>
              <a:path extrusionOk="0" h="159488" w="179424">
                <a:moveTo>
                  <a:pt x="119616" y="44856"/>
                </a:moveTo>
                <a:cubicBezTo>
                  <a:pt x="119616" y="75134"/>
                  <a:pt x="92827" y="99680"/>
                  <a:pt x="59808" y="99680"/>
                </a:cubicBezTo>
                <a:cubicBezTo>
                  <a:pt x="51491" y="99680"/>
                  <a:pt x="43579" y="98123"/>
                  <a:pt x="36383" y="95319"/>
                </a:cubicBezTo>
                <a:lnTo>
                  <a:pt x="10965" y="108776"/>
                </a:lnTo>
                <a:cubicBezTo>
                  <a:pt x="8068" y="110302"/>
                  <a:pt x="4517" y="109773"/>
                  <a:pt x="2181" y="107468"/>
                </a:cubicBezTo>
                <a:cubicBezTo>
                  <a:pt x="-156" y="105163"/>
                  <a:pt x="-685" y="101580"/>
                  <a:pt x="872" y="98683"/>
                </a:cubicBezTo>
                <a:lnTo>
                  <a:pt x="11962" y="77751"/>
                </a:lnTo>
                <a:cubicBezTo>
                  <a:pt x="4454" y="68592"/>
                  <a:pt x="0" y="57192"/>
                  <a:pt x="0" y="44856"/>
                </a:cubicBezTo>
                <a:cubicBezTo>
                  <a:pt x="0" y="14578"/>
                  <a:pt x="26789" y="-9968"/>
                  <a:pt x="59808" y="-9968"/>
                </a:cubicBezTo>
                <a:cubicBezTo>
                  <a:pt x="92827" y="-9968"/>
                  <a:pt x="119616" y="14578"/>
                  <a:pt x="119616" y="44856"/>
                </a:cubicBezTo>
                <a:close/>
                <a:moveTo>
                  <a:pt x="119616" y="159488"/>
                </a:moveTo>
                <a:cubicBezTo>
                  <a:pt x="90304" y="159488"/>
                  <a:pt x="65914" y="140144"/>
                  <a:pt x="60805" y="114632"/>
                </a:cubicBezTo>
                <a:cubicBezTo>
                  <a:pt x="98185" y="114165"/>
                  <a:pt x="130675" y="87563"/>
                  <a:pt x="134257" y="51491"/>
                </a:cubicBezTo>
                <a:cubicBezTo>
                  <a:pt x="160205" y="57472"/>
                  <a:pt x="179424" y="78997"/>
                  <a:pt x="179424" y="104664"/>
                </a:cubicBezTo>
                <a:cubicBezTo>
                  <a:pt x="179424" y="117000"/>
                  <a:pt x="174970" y="128401"/>
                  <a:pt x="167463" y="137559"/>
                </a:cubicBezTo>
                <a:lnTo>
                  <a:pt x="178552" y="158492"/>
                </a:lnTo>
                <a:cubicBezTo>
                  <a:pt x="180079" y="161389"/>
                  <a:pt x="179549" y="164940"/>
                  <a:pt x="177244" y="167276"/>
                </a:cubicBezTo>
                <a:cubicBezTo>
                  <a:pt x="174939" y="169612"/>
                  <a:pt x="171357" y="170142"/>
                  <a:pt x="168460" y="168584"/>
                </a:cubicBezTo>
                <a:lnTo>
                  <a:pt x="143041" y="155127"/>
                </a:lnTo>
                <a:cubicBezTo>
                  <a:pt x="135845" y="157931"/>
                  <a:pt x="127933" y="159488"/>
                  <a:pt x="119616" y="159488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8281545" y="5015798"/>
            <a:ext cx="3375837" cy="921488"/>
          </a:xfrm>
          <a:custGeom>
            <a:rect b="b" l="l" r="r" t="t"/>
            <a:pathLst>
              <a:path extrusionOk="0" h="921488" w="3375837">
                <a:moveTo>
                  <a:pt x="0" y="0"/>
                </a:moveTo>
                <a:lnTo>
                  <a:pt x="3375837" y="0"/>
                </a:lnTo>
                <a:lnTo>
                  <a:pt x="3375837" y="921488"/>
                </a:lnTo>
                <a:lnTo>
                  <a:pt x="0" y="921488"/>
                </a:lnTo>
                <a:lnTo>
                  <a:pt x="0" y="0"/>
                </a:lnTo>
                <a:close/>
              </a:path>
            </a:pathLst>
          </a:custGeom>
          <a:solidFill>
            <a:srgbClr val="FAFAFA">
              <a:alpha val="10196"/>
            </a:srgbClr>
          </a:solidFill>
          <a:ln>
            <a:noFill/>
          </a:ln>
        </p:spPr>
      </p:sp>
      <p:sp>
        <p:nvSpPr>
          <p:cNvPr id="135" name="Google Shape;135;p14"/>
          <p:cNvSpPr/>
          <p:nvPr/>
        </p:nvSpPr>
        <p:spPr>
          <a:xfrm>
            <a:off x="8387870" y="5122123"/>
            <a:ext cx="32163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Arial"/>
              <a:buNone/>
            </a:pPr>
            <a:r>
              <a:rPr b="1" i="0" lang="en-US" sz="837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Example Interactions: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387870" y="5334666"/>
            <a:ext cx="32163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Arial"/>
              <a:buNone/>
            </a:pPr>
            <a:r>
              <a:rPr b="0" i="0" lang="en-US" sz="837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• "Remove chicken and add more protein"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8387870" y="5511763"/>
            <a:ext cx="32163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Arial"/>
              <a:buNone/>
            </a:pPr>
            <a:r>
              <a:rPr b="0" i="0" lang="en-US" sz="837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• "Make Wednesday dinner vegetarian"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8387870" y="5688864"/>
            <a:ext cx="32163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Arial"/>
              <a:buNone/>
            </a:pPr>
            <a:r>
              <a:rPr b="0" i="0" lang="en-US" sz="837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• "Reduce calories to 1,600 per day"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8281545" y="6082161"/>
            <a:ext cx="3375837" cy="7088"/>
          </a:xfrm>
          <a:custGeom>
            <a:rect b="b" l="l" r="r" t="t"/>
            <a:pathLst>
              <a:path extrusionOk="0" h="7088" w="3375837">
                <a:moveTo>
                  <a:pt x="0" y="0"/>
                </a:moveTo>
                <a:lnTo>
                  <a:pt x="3375837" y="0"/>
                </a:lnTo>
                <a:lnTo>
                  <a:pt x="3375837" y="7088"/>
                </a:lnTo>
                <a:lnTo>
                  <a:pt x="0" y="7088"/>
                </a:lnTo>
                <a:lnTo>
                  <a:pt x="0" y="0"/>
                </a:lnTo>
                <a:close/>
              </a:path>
            </a:pathLst>
          </a:custGeom>
          <a:solidFill>
            <a:srgbClr val="FAFAFA">
              <a:alpha val="20000"/>
            </a:srgbClr>
          </a:solidFill>
          <a:ln>
            <a:noFill/>
          </a:ln>
        </p:spPr>
      </p:sp>
      <p:sp>
        <p:nvSpPr>
          <p:cNvPr id="140" name="Google Shape;140;p14"/>
          <p:cNvSpPr/>
          <p:nvPr/>
        </p:nvSpPr>
        <p:spPr>
          <a:xfrm>
            <a:off x="8281545" y="6192029"/>
            <a:ext cx="34290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7"/>
              <a:buFont typeface="Arial"/>
              <a:buNone/>
            </a:pPr>
            <a:r>
              <a:rPr b="0" i="0" lang="en-US" sz="837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Sliding window context management for efficient iterative interactions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14" title="IMG-20260429-WA0013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8650" y="1581237"/>
            <a:ext cx="10574244" cy="504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5" title="IMG-20260429-WA001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8160"/>
            <a:ext cx="12192000" cy="582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6" title="IMG-20260429-WA0009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616938"/>
            <a:ext cx="11887200" cy="5624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63" y="706838"/>
            <a:ext cx="12078277" cy="544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562700"/>
            <a:ext cx="11887199" cy="573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9" title="IMG-20260429-WA0008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10540"/>
            <a:ext cx="12192000" cy="5836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11000"/>
            <a:ext cx="11887200" cy="54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 title="IMG-20260429-WA0004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6260"/>
            <a:ext cx="12192000" cy="5745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title="IMG-20260429-WA0005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52450"/>
            <a:ext cx="12192000" cy="57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3" title="IMG-20260429-WA0000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65664"/>
            <a:ext cx="12192000" cy="575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4" title="IMG-20260429-WA0006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643075"/>
            <a:ext cx="11887203" cy="55718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896450"/>
            <a:ext cx="11887197" cy="506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6"/>
          <p:cNvPicPr preferRelativeResize="0"/>
          <p:nvPr/>
        </p:nvPicPr>
        <p:blipFill rotWithShape="1">
          <a:blip r:embed="rId3">
            <a:alphaModFix/>
          </a:blip>
          <a:srcRect b="9573" l="15699" r="13299" t="4109"/>
          <a:stretch/>
        </p:blipFill>
        <p:spPr>
          <a:xfrm>
            <a:off x="597275" y="454550"/>
            <a:ext cx="11086426" cy="591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68425"/>
            <a:ext cx="11887200" cy="372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8" title="IMG-20260429-WA0007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1532" y="228600"/>
            <a:ext cx="9908931" cy="640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9" title="IMG-20260429-WA0001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44830"/>
            <a:ext cx="12192000" cy="5768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5100" y="710911"/>
            <a:ext cx="5554599" cy="5436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2249" y="1457325"/>
            <a:ext cx="6124575" cy="394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11425"/>
            <a:ext cx="12191998" cy="333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545800"/>
            <a:ext cx="12191999" cy="2994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838" y="152400"/>
            <a:ext cx="1052831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344164" y="484488"/>
            <a:ext cx="116586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39"/>
              <a:buFont typeface="Arial"/>
              <a:buNone/>
            </a:pPr>
            <a:r>
              <a:rPr b="1" i="0" lang="en-US" sz="2439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Experimental Results &amp; Performance Analysis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387214" y="1848903"/>
            <a:ext cx="11572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4"/>
              <a:buFont typeface="Arial"/>
              <a:buNone/>
            </a:pPr>
            <a:r>
              <a:rPr b="0" i="0" lang="en-US" sz="1200" u="none" cap="none" strike="noStrike">
                <a:solidFill>
                  <a:srgbClr val="86868B"/>
                </a:solidFill>
                <a:latin typeface="Liter"/>
                <a:ea typeface="Liter"/>
                <a:cs typeface="Liter"/>
                <a:sym typeface="Liter"/>
              </a:rPr>
              <a:t>Agentic RAG vs Vanilla RAG: Quantitative comparison across 50 test queries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390655" y="2196509"/>
            <a:ext cx="5659772" cy="3138773"/>
          </a:xfrm>
          <a:custGeom>
            <a:rect b="b" l="l" r="r" t="t"/>
            <a:pathLst>
              <a:path extrusionOk="0" h="3138773" w="5659772">
                <a:moveTo>
                  <a:pt x="0" y="0"/>
                </a:moveTo>
                <a:lnTo>
                  <a:pt x="5659772" y="0"/>
                </a:lnTo>
                <a:lnTo>
                  <a:pt x="5659772" y="3138773"/>
                </a:lnTo>
                <a:lnTo>
                  <a:pt x="0" y="313877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1015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33"/>
          <p:cNvSpPr/>
          <p:nvPr/>
        </p:nvSpPr>
        <p:spPr>
          <a:xfrm>
            <a:off x="566179" y="2372031"/>
            <a:ext cx="538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9"/>
              <a:buFont typeface="Arial"/>
              <a:buNone/>
            </a:pPr>
            <a:r>
              <a:rPr b="1" i="0" lang="en-US" sz="1219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Performance Metrics Comparison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kimi-img.moonshot.cn/pub/slides/26-04-19-13:22:00-d7i6cu7k67e8g47g2opg.png" id="261" name="Google Shape;2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179" y="2750611"/>
            <a:ext cx="4715100" cy="2409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62" name="Google Shape;262;p33"/>
          <p:cNvSpPr/>
          <p:nvPr/>
        </p:nvSpPr>
        <p:spPr>
          <a:xfrm>
            <a:off x="554964" y="5244947"/>
            <a:ext cx="2529603" cy="309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2"/>
              <a:buFont typeface="Arial"/>
              <a:buNone/>
            </a:pPr>
            <a:r>
              <a:rPr b="1" i="0" lang="en-US" sz="2032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-53%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3310132" y="6130297"/>
            <a:ext cx="2529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2"/>
              <a:buFont typeface="Arial"/>
              <a:buNone/>
            </a:pPr>
            <a:r>
              <a:rPr b="1" i="0" lang="en-US" sz="2032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+22pp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3"/>
          <p:cNvSpPr/>
          <p:nvPr/>
        </p:nvSpPr>
        <p:spPr>
          <a:xfrm>
            <a:off x="516246" y="5933169"/>
            <a:ext cx="2607040" cy="688327"/>
          </a:xfrm>
          <a:custGeom>
            <a:rect b="b" l="l" r="r" t="t"/>
            <a:pathLst>
              <a:path extrusionOk="0" h="688327" w="2607040">
                <a:moveTo>
                  <a:pt x="0" y="0"/>
                </a:moveTo>
                <a:lnTo>
                  <a:pt x="2607040" y="0"/>
                </a:lnTo>
                <a:lnTo>
                  <a:pt x="2607040" y="688327"/>
                </a:lnTo>
                <a:lnTo>
                  <a:pt x="0" y="6883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>
              <a:alpha val="10196"/>
            </a:srgbClr>
          </a:solidFill>
          <a:ln>
            <a:noFill/>
          </a:ln>
        </p:spPr>
      </p:sp>
      <p:sp>
        <p:nvSpPr>
          <p:cNvPr id="265" name="Google Shape;265;p33"/>
          <p:cNvSpPr/>
          <p:nvPr/>
        </p:nvSpPr>
        <p:spPr>
          <a:xfrm>
            <a:off x="554964" y="6036418"/>
            <a:ext cx="2529603" cy="3097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2"/>
              <a:buFont typeface="Arial"/>
              <a:buNone/>
            </a:pPr>
            <a:r>
              <a:rPr b="1" i="0" lang="en-US" sz="2032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+28pp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593682" y="6380582"/>
            <a:ext cx="2452167" cy="137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b="0" i="0" lang="en-US" sz="813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Constraint Satisfaction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3"/>
          <p:cNvSpPr/>
          <p:nvPr/>
        </p:nvSpPr>
        <p:spPr>
          <a:xfrm>
            <a:off x="3271413" y="6818519"/>
            <a:ext cx="2607040" cy="688327"/>
          </a:xfrm>
          <a:custGeom>
            <a:rect b="b" l="l" r="r" t="t"/>
            <a:pathLst>
              <a:path extrusionOk="0" h="688327" w="2607040">
                <a:moveTo>
                  <a:pt x="0" y="0"/>
                </a:moveTo>
                <a:lnTo>
                  <a:pt x="2607040" y="0"/>
                </a:lnTo>
                <a:lnTo>
                  <a:pt x="2607040" y="688327"/>
                </a:lnTo>
                <a:lnTo>
                  <a:pt x="0" y="688327"/>
                </a:lnTo>
                <a:lnTo>
                  <a:pt x="0" y="0"/>
                </a:lnTo>
                <a:close/>
              </a:path>
            </a:pathLst>
          </a:custGeom>
          <a:solidFill>
            <a:srgbClr val="FAFAFA">
              <a:alpha val="10196"/>
            </a:srgbClr>
          </a:solidFill>
          <a:ln>
            <a:noFill/>
          </a:ln>
        </p:spPr>
      </p:sp>
      <p:sp>
        <p:nvSpPr>
          <p:cNvPr id="268" name="Google Shape;268;p33"/>
          <p:cNvSpPr/>
          <p:nvPr/>
        </p:nvSpPr>
        <p:spPr>
          <a:xfrm>
            <a:off x="3310132" y="6921768"/>
            <a:ext cx="25296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32"/>
              <a:buFont typeface="Arial"/>
              <a:buNone/>
            </a:pPr>
            <a:r>
              <a:rPr b="1" i="0" lang="en-US" sz="2032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+1.2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3"/>
          <p:cNvSpPr/>
          <p:nvPr/>
        </p:nvSpPr>
        <p:spPr>
          <a:xfrm>
            <a:off x="3348850" y="7265932"/>
            <a:ext cx="24522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3"/>
              <a:buFont typeface="Arial"/>
              <a:buNone/>
            </a:pPr>
            <a:r>
              <a:rPr b="0" i="0" lang="en-US" sz="813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Plan Coherence (1-5)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3"/>
          <p:cNvSpPr/>
          <p:nvPr/>
        </p:nvSpPr>
        <p:spPr>
          <a:xfrm>
            <a:off x="6227995" y="2196509"/>
            <a:ext cx="5659772" cy="3190398"/>
          </a:xfrm>
          <a:custGeom>
            <a:rect b="b" l="l" r="r" t="t"/>
            <a:pathLst>
              <a:path extrusionOk="0" h="3190398" w="5659772">
                <a:moveTo>
                  <a:pt x="0" y="0"/>
                </a:moveTo>
                <a:lnTo>
                  <a:pt x="5659772" y="0"/>
                </a:lnTo>
                <a:lnTo>
                  <a:pt x="5659772" y="3190398"/>
                </a:lnTo>
                <a:lnTo>
                  <a:pt x="0" y="31903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flat" cmpd="sng" w="10150">
            <a:solidFill>
              <a:srgbClr val="E5E5E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33"/>
          <p:cNvSpPr/>
          <p:nvPr/>
        </p:nvSpPr>
        <p:spPr>
          <a:xfrm>
            <a:off x="6403518" y="2372031"/>
            <a:ext cx="53862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9"/>
              <a:buFont typeface="Arial"/>
              <a:buNone/>
            </a:pPr>
            <a:r>
              <a:rPr b="1" i="0" lang="en-US" u="none" cap="none" strike="noStrike">
                <a:solidFill>
                  <a:srgbClr val="1D1D1D"/>
                </a:solidFill>
                <a:latin typeface="Liter"/>
                <a:ea typeface="Liter"/>
                <a:cs typeface="Liter"/>
                <a:sym typeface="Liter"/>
              </a:rPr>
              <a:t>Detailed Metrics Table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2" name="Google Shape;272;p33"/>
          <p:cNvGraphicFramePr/>
          <p:nvPr/>
        </p:nvGraphicFramePr>
        <p:xfrm>
          <a:off x="6403518" y="275061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{EE9A17C2-595F-473B-B248-0411605573A8}</a:tableStyleId>
              </a:tblPr>
              <a:tblGrid>
                <a:gridCol w="2495175"/>
                <a:gridCol w="860400"/>
                <a:gridCol w="946450"/>
                <a:gridCol w="1006675"/>
              </a:tblGrid>
              <a:tr h="3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Metric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86868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Vanilla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Agentic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Δ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MAE Calories (kcal)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86868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87.4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41.2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A63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-52.9%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0300">
                      <a:solidFill>
                        <a:srgbClr val="1D1D1D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MAE Protein (g)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86868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14.6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6.8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A63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-53.4%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Recipe Adherence (%)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86868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72.0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94.0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A63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+22.0pp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Constraint Satisfaction (%)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86868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61.0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89.0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A63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+28.0pp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Plan Coherence (1-5)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86868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3.1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4.3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0A63E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+1.2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17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Latency (seconds)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86868B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8.4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D1D1D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47.2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B2C36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+38.8s</a:t>
                      </a:r>
                      <a:endParaRPr sz="1200" u="none" cap="none" strike="noStrike"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68825" marB="68825" marR="103250" marL="1032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150">
                      <a:solidFill>
                        <a:srgbClr val="E5E5E5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1D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4"/>
          <p:cNvSpPr/>
          <p:nvPr/>
        </p:nvSpPr>
        <p:spPr>
          <a:xfrm>
            <a:off x="5716556" y="1561215"/>
            <a:ext cx="762000" cy="762000"/>
          </a:xfrm>
          <a:custGeom>
            <a:rect b="b" l="l" r="r" t="t"/>
            <a:pathLst>
              <a:path extrusionOk="0" h="762000" w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279" name="Google Shape;279;p34"/>
          <p:cNvSpPr/>
          <p:nvPr/>
        </p:nvSpPr>
        <p:spPr>
          <a:xfrm>
            <a:off x="5926106" y="1770765"/>
            <a:ext cx="342900" cy="342900"/>
          </a:xfrm>
          <a:custGeom>
            <a:rect b="b" l="l" r="r" t="t"/>
            <a:pathLst>
              <a:path extrusionOk="0" h="342900" w="342900">
                <a:moveTo>
                  <a:pt x="42796" y="9644"/>
                </a:moveTo>
                <a:cubicBezTo>
                  <a:pt x="42260" y="4152"/>
                  <a:pt x="37639" y="0"/>
                  <a:pt x="32147" y="0"/>
                </a:cubicBezTo>
                <a:cubicBezTo>
                  <a:pt x="26655" y="0"/>
                  <a:pt x="22034" y="4152"/>
                  <a:pt x="21431" y="9577"/>
                </a:cubicBezTo>
                <a:lnTo>
                  <a:pt x="11988" y="100258"/>
                </a:lnTo>
                <a:cubicBezTo>
                  <a:pt x="11117" y="104276"/>
                  <a:pt x="10716" y="108362"/>
                  <a:pt x="10716" y="112447"/>
                </a:cubicBezTo>
                <a:cubicBezTo>
                  <a:pt x="10716" y="143188"/>
                  <a:pt x="34223" y="168436"/>
                  <a:pt x="64294" y="171182"/>
                </a:cubicBezTo>
                <a:lnTo>
                  <a:pt x="64294" y="321469"/>
                </a:lnTo>
                <a:cubicBezTo>
                  <a:pt x="64294" y="333323"/>
                  <a:pt x="73871" y="342900"/>
                  <a:pt x="85725" y="342900"/>
                </a:cubicBezTo>
                <a:cubicBezTo>
                  <a:pt x="97579" y="342900"/>
                  <a:pt x="107156" y="333323"/>
                  <a:pt x="107156" y="321469"/>
                </a:cubicBezTo>
                <a:lnTo>
                  <a:pt x="107156" y="171182"/>
                </a:lnTo>
                <a:cubicBezTo>
                  <a:pt x="137227" y="168436"/>
                  <a:pt x="160734" y="143188"/>
                  <a:pt x="160734" y="112447"/>
                </a:cubicBezTo>
                <a:cubicBezTo>
                  <a:pt x="160734" y="108362"/>
                  <a:pt x="160333" y="104276"/>
                  <a:pt x="159462" y="100258"/>
                </a:cubicBezTo>
                <a:lnTo>
                  <a:pt x="149952" y="9577"/>
                </a:lnTo>
                <a:cubicBezTo>
                  <a:pt x="149416" y="4152"/>
                  <a:pt x="144795" y="0"/>
                  <a:pt x="139303" y="0"/>
                </a:cubicBezTo>
                <a:cubicBezTo>
                  <a:pt x="133811" y="0"/>
                  <a:pt x="129190" y="4152"/>
                  <a:pt x="128654" y="9644"/>
                </a:cubicBezTo>
                <a:lnTo>
                  <a:pt x="119546" y="100392"/>
                </a:lnTo>
                <a:cubicBezTo>
                  <a:pt x="119144" y="104209"/>
                  <a:pt x="115930" y="107156"/>
                  <a:pt x="112112" y="107156"/>
                </a:cubicBezTo>
                <a:cubicBezTo>
                  <a:pt x="108228" y="107156"/>
                  <a:pt x="105013" y="104209"/>
                  <a:pt x="104611" y="100325"/>
                </a:cubicBezTo>
                <a:lnTo>
                  <a:pt x="96374" y="9778"/>
                </a:lnTo>
                <a:cubicBezTo>
                  <a:pt x="95905" y="4219"/>
                  <a:pt x="91284" y="0"/>
                  <a:pt x="85725" y="0"/>
                </a:cubicBezTo>
                <a:cubicBezTo>
                  <a:pt x="80166" y="0"/>
                  <a:pt x="75545" y="4219"/>
                  <a:pt x="75076" y="9778"/>
                </a:cubicBezTo>
                <a:lnTo>
                  <a:pt x="66839" y="100325"/>
                </a:lnTo>
                <a:cubicBezTo>
                  <a:pt x="66504" y="104209"/>
                  <a:pt x="63222" y="107156"/>
                  <a:pt x="59338" y="107156"/>
                </a:cubicBezTo>
                <a:cubicBezTo>
                  <a:pt x="55453" y="107156"/>
                  <a:pt x="52239" y="104209"/>
                  <a:pt x="51904" y="100392"/>
                </a:cubicBezTo>
                <a:lnTo>
                  <a:pt x="42796" y="9644"/>
                </a:lnTo>
                <a:close/>
                <a:moveTo>
                  <a:pt x="300038" y="0"/>
                </a:moveTo>
                <a:cubicBezTo>
                  <a:pt x="289322" y="0"/>
                  <a:pt x="214313" y="21431"/>
                  <a:pt x="214313" y="117872"/>
                </a:cubicBezTo>
                <a:lnTo>
                  <a:pt x="214313" y="192881"/>
                </a:lnTo>
                <a:cubicBezTo>
                  <a:pt x="214313" y="216523"/>
                  <a:pt x="233534" y="235744"/>
                  <a:pt x="257175" y="235744"/>
                </a:cubicBezTo>
                <a:lnTo>
                  <a:pt x="278606" y="235744"/>
                </a:lnTo>
                <a:lnTo>
                  <a:pt x="278606" y="321469"/>
                </a:lnTo>
                <a:cubicBezTo>
                  <a:pt x="278606" y="333323"/>
                  <a:pt x="288183" y="342900"/>
                  <a:pt x="300038" y="342900"/>
                </a:cubicBezTo>
                <a:cubicBezTo>
                  <a:pt x="311892" y="342900"/>
                  <a:pt x="321469" y="333323"/>
                  <a:pt x="321469" y="321469"/>
                </a:cubicBezTo>
                <a:lnTo>
                  <a:pt x="321469" y="21431"/>
                </a:lnTo>
                <a:cubicBezTo>
                  <a:pt x="321469" y="9577"/>
                  <a:pt x="311892" y="0"/>
                  <a:pt x="300038" y="0"/>
                </a:cubicBezTo>
                <a:close/>
              </a:path>
            </a:pathLst>
          </a:custGeom>
          <a:solidFill>
            <a:srgbClr val="1D1D1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4"/>
          <p:cNvSpPr/>
          <p:nvPr/>
        </p:nvSpPr>
        <p:spPr>
          <a:xfrm>
            <a:off x="4335788" y="2551815"/>
            <a:ext cx="352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Thank You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5640356" y="3390014"/>
            <a:ext cx="914400" cy="28575"/>
          </a:xfrm>
          <a:custGeom>
            <a:rect b="b" l="l" r="r" t="t"/>
            <a:pathLst>
              <a:path extrusionOk="0" h="28575" w="914400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</p:sp>
      <p:sp>
        <p:nvSpPr>
          <p:cNvPr id="282" name="Google Shape;282;p34"/>
          <p:cNvSpPr/>
          <p:nvPr/>
        </p:nvSpPr>
        <p:spPr>
          <a:xfrm>
            <a:off x="4450088" y="3647189"/>
            <a:ext cx="32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AFAFA"/>
                </a:solidFill>
                <a:latin typeface="Liter"/>
                <a:ea typeface="Liter"/>
                <a:cs typeface="Liter"/>
                <a:sym typeface="Liter"/>
              </a:rPr>
              <a:t>Questions &amp; Discussion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3837027" y="4761551"/>
            <a:ext cx="2447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4"/>
          <p:cNvSpPr/>
          <p:nvPr/>
        </p:nvSpPr>
        <p:spPr>
          <a:xfrm>
            <a:off x="6813352" y="4761551"/>
            <a:ext cx="18288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4"/>
          <p:cNvSpPr/>
          <p:nvPr/>
        </p:nvSpPr>
        <p:spPr>
          <a:xfrm>
            <a:off x="3507199" y="4294035"/>
            <a:ext cx="5181600" cy="7620"/>
          </a:xfrm>
          <a:custGeom>
            <a:rect b="b" l="l" r="r" t="t"/>
            <a:pathLst>
              <a:path extrusionOk="0" h="7620" w="5181600">
                <a:moveTo>
                  <a:pt x="0" y="0"/>
                </a:moveTo>
                <a:lnTo>
                  <a:pt x="5181600" y="0"/>
                </a:lnTo>
                <a:lnTo>
                  <a:pt x="51816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FAFAFA">
              <a:alpha val="20000"/>
            </a:srgbClr>
          </a:solidFill>
          <a:ln>
            <a:noFill/>
          </a:ln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